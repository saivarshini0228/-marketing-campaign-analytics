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thank the room, introduce yourself, and frame the project in one sentence — 'a full analytics workflow on 200,000 marketing campaign records, from Python cleaning through to an interactive Power BI dashboard.' Don't give away the headline finding yet — that's the next slide's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we'll go from the headline result, into why we did this project and how, through the dataset and the exploratory analysis, then the category comparison and dashboard, and close with findings, recommendations, and limitations. About a dozen slides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up front, in case that's all anyone remembers: 200,000 campaigns, and virtually no category — channel, type, segment, company — outperforms another by a meaningful margin. The spreads are all under 1%. The one real signal is the mechanical relationship between clicks, impressions, and CTR, which we'll get to. Emphasize the italic line — this is the analytical maturity point of the whole project: don't mistake a bar chart difference for a real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why we did this — standard EDA-to-dashboard objectives. Right side is the actual pipeline: clean in Python/Colab first — that's also where the CTR column got derived, since it wasn't in the raw data — then the KPI comparison analysis, then Power BI for the interactive layer, then this report ties it together. Keep this brief, it's mostly scene-setting.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of the dataset: 200K rows, 17 fields once CTR is added, zero missing values anywhere. Worth calling out the italic note at the bottom explicitly — every category is almost exactly evenly split (~20%), and CTR is a perfect deterministic function of clicks/impressions. That evenness is actually a clue we lean on later: it's a strong signal the data is synthetic rather than a live production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descriptive stats across the seven numeric KPIs. Don't read every cell aloud — just point to the pattern: mean and median are nearly identical for most metrics, which is a tell for a uniform, evenly-spread distribution rather than a real-world skewed one. CTR is the outlier — mean well above median (14.04 vs 9.98) — because it's right-skewed. That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confirmation of what the stats table implied. Point at the top three histograms first — ROI, conversion rate, acquisition cost — and note how flat/even they look across their full range, that's the uniform-distribution signature. Then point at CTR bottom-right — clearly skewed right, long tail. Explain briefly why: CTR is calculated, not observed, so when impressions happen to be low relative to clicks, CTR spikes.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look like real differences at first glance — Influencer and Facebook both sit on top. But look at the y-axis: it only spans 4.80 to 5.20. Zoom out mentally and the bars are essentially the same height. Say this explicitly, out loud, before someone in the audience jumps to 'so we should invest in Influencer' — that's the trap this slide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quantitative backbone of the whole 'no real differences' claim — worth slowing down here. Walk each row: campaign type spread under 0.4%, channel under 0.7%, segment about 0.6%, company under 1%. Then compare that to the natural range of the data itself — conversion rate spans 0.01 to 0.15, a huge range — so a 0.6% difference between segments is noise, not signal. This is the slide to pause on if you only have time to defend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two darker cells off-diagonal: Clicks-CTR at 0.51 and Impressions-CTR at -0.66. Everything else in the matrix is close to zero. Explain this isn't a business insight so much as a math fact — CTR is defined as clicks divided by impressions, so of course it correlates with both. The real takeaway: none of the other seven KPIs move together, which reinforces the 'no meaningful relationships' theme from the category comparison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for reference — if presenting live and you have the .pbix file, switch over to the real interactive dashboard here instead, it reads much better on a projector than these thumbnails. The one number worth saying out loud: the ROI matrix on Page 2 never leaves a 4.96x-5.03x band across every type/channel combination — that's the most concrete confirmation of the whole 'no real winner'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slide — nothing new here, so move through it at a moderate pace rather than re-explaining each point from scratch. Landing point for #5: because the data looks synthetic, treat every finding here as a demonstration of method rather than a real business conclusion. That framing matters for how you answer questions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what NOT to do with this data — don't let anyone walk away thinking 'invest more in Influencer.' The more constructive point is the second bullet: if you actually want to find real performance drivers, you need different variables entirely — creative quality, bid strategy, competitor activity — none of which exist in this dataset. Right column is more practical/process-oriented: a reusable pipeline and a dashboard tweak so future viewers don't fall into the same trap this whole deck warns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first, briefly — the synthetic-data point ties back to slide 5's balanced categories, so you can reference that instead of re-explaining. Conclusion: read the middle paragraph close to verbatim if you want a strong closing line — 'none of the categorical attributes are associated with a meaningfully different level of performance' is the one sentence that summarizes the entire project. Then transition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to be ready for: (1) 'Why do you think the data is synthetic?' — point to the uniform distributions and perfectly even category splits from slide 5. (2) 'So what SHOULD we do?' — point to slide 13, especially collecting better variables and validating the source. (3) 'What was the hardest part?' — reasonable answer is distinguishing a real pattern from noise at 200K rows, where even trivial differences look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966960" y="-1463040"/>
            <a:ext cx="4754880" cy="4754880"/>
          </a:xfrm>
          <a:prstGeom prst="ellipse">
            <a:avLst/>
          </a:prstGeom>
          <a:solidFill>
            <a:srgbClr val="065A82">
              <a:alpha val="45000"/>
            </a:srgbClr>
          </a:solidFill>
          <a:ln/>
        </p:spPr>
      </p:sp>
      <p:sp>
        <p:nvSpPr>
          <p:cNvPr id="3" name="Shape 1"/>
          <p:cNvSpPr/>
          <p:nvPr/>
        </p:nvSpPr>
        <p:spPr>
          <a:xfrm>
            <a:off x="11338560" y="4206240"/>
            <a:ext cx="2926080" cy="2926080"/>
          </a:xfrm>
          <a:prstGeom prst="ellipse">
            <a:avLst/>
          </a:prstGeom>
          <a:solidFill>
            <a:srgbClr val="1C7293">
              <a:alpha val="45000"/>
            </a:srgbClr>
          </a:solidFill>
          <a:ln/>
        </p:spPr>
      </p:sp>
      <p:sp>
        <p:nvSpPr>
          <p:cNvPr id="4" name="Shape 2"/>
          <p:cNvSpPr/>
          <p:nvPr/>
        </p:nvSpPr>
        <p:spPr>
          <a:xfrm>
            <a:off x="-1097280" y="5120640"/>
            <a:ext cx="3291840" cy="3291840"/>
          </a:xfrm>
          <a:prstGeom prst="ellipse">
            <a:avLst/>
          </a:prstGeom>
          <a:solidFill>
            <a:srgbClr val="065A82">
              <a:alpha val="40000"/>
            </a:srgbClr>
          </a:solidFill>
          <a:ln/>
        </p:spPr>
      </p:sp>
      <p:sp>
        <p:nvSpPr>
          <p:cNvPr id="5" name="Text 3"/>
          <p:cNvSpPr txBox="1"/>
          <p:nvPr/>
        </p:nvSpPr>
        <p:spPr>
          <a:xfrm>
            <a:off x="822960" y="1417320"/>
            <a:ext cx="82296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A DATA ANALYTICS PROJECT REPORT</a:t>
            </a:r>
            <a:endParaRPr lang="en-US" sz="1400" dirty="0"/>
          </a:p>
        </p:txBody>
      </p:sp>
      <p:sp>
        <p:nvSpPr>
          <p:cNvPr id="6" name="Text 4"/>
          <p:cNvSpPr txBox="1"/>
          <p:nvPr/>
        </p:nvSpPr>
        <p:spPr>
          <a:xfrm>
            <a:off x="777240" y="1874520"/>
            <a:ext cx="9875520" cy="182880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Marketing Campaign</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Performance Analytics</a:t>
            </a:r>
            <a:endParaRPr lang="en-US" sz="4600" dirty="0"/>
          </a:p>
        </p:txBody>
      </p:sp>
      <p:sp>
        <p:nvSpPr>
          <p:cNvPr id="7" name="Text 5"/>
          <p:cNvSpPr txBox="1"/>
          <p:nvPr/>
        </p:nvSpPr>
        <p:spPr>
          <a:xfrm>
            <a:off x="822960" y="3703320"/>
            <a:ext cx="8046720" cy="822960"/>
          </a:xfrm>
          <a:prstGeom prst="rect">
            <a:avLst/>
          </a:prstGeom>
          <a:noFill/>
          <a:ln/>
        </p:spPr>
        <p:txBody>
          <a:bodyPr wrap="square" lIns="0" tIns="0" rIns="0" bIns="0" rtlCol="0" anchor="ctr"/>
          <a:lstStyle/>
          <a:p>
            <a:pPr indent="0" marL="0">
              <a:lnSpc>
                <a:spcPct val="120000"/>
              </a:lnSpc>
              <a:buNone/>
            </a:pPr>
            <a:r>
              <a:rPr lang="en-US" sz="1500" i="1" dirty="0">
                <a:solidFill>
                  <a:srgbClr val="CADCFC"/>
                </a:solidFill>
                <a:latin typeface="Calibri" pitchFamily="34" charset="0"/>
                <a:ea typeface="Calibri" pitchFamily="34" charset="-122"/>
                <a:cs typeface="Calibri" pitchFamily="34" charset="-120"/>
              </a:rPr>
              <a:t>Exploratory Data Analysis, KPI Evaluation, and Dashboard-Based Insight Generation from a 200,000-Campaign Marketing Dataset</a:t>
            </a:r>
            <a:endParaRPr lang="en-US" sz="1500" dirty="0"/>
          </a:p>
        </p:txBody>
      </p:sp>
      <p:sp>
        <p:nvSpPr>
          <p:cNvPr id="8" name="Shape 6"/>
          <p:cNvSpPr/>
          <p:nvPr/>
        </p:nvSpPr>
        <p:spPr>
          <a:xfrm>
            <a:off x="822960" y="4709160"/>
            <a:ext cx="3108960" cy="0"/>
          </a:xfrm>
          <a:prstGeom prst="line">
            <a:avLst/>
          </a:prstGeom>
          <a:noFill/>
          <a:ln w="19050">
            <a:solidFill>
              <a:srgbClr val="1C7293"/>
            </a:solidFill>
            <a:prstDash val="solid"/>
          </a:ln>
        </p:spPr>
      </p:sp>
      <p:sp>
        <p:nvSpPr>
          <p:cNvPr id="9" name="Text 7"/>
          <p:cNvSpPr txBox="1"/>
          <p:nvPr/>
        </p:nvSpPr>
        <p:spPr>
          <a:xfrm>
            <a:off x="822960" y="4937760"/>
            <a:ext cx="7315200" cy="1645920"/>
          </a:xfrm>
          <a:prstGeom prst="rect">
            <a:avLst/>
          </a:prstGeom>
          <a:noFill/>
          <a:ln/>
        </p:spPr>
        <p:txBody>
          <a:bodyPr wrap="square" lIns="0" tIns="0" rIns="0" bIns="0" rtlCol="0" anchor="ctr"/>
          <a:lstStyle/>
          <a:p>
            <a:pPr indent="0" marL="0">
              <a:lnSpc>
                <a:spcPct val="135000"/>
              </a:lnSpc>
              <a:buNone/>
            </a:pPr>
            <a:r>
              <a:rPr lang="en-US" sz="1300" b="1" dirty="0">
                <a:solidFill>
                  <a:srgbClr val="CADCFC"/>
                </a:solidFill>
                <a:latin typeface="Calibri" pitchFamily="34" charset="0"/>
                <a:ea typeface="Calibri" pitchFamily="34" charset="-122"/>
                <a:cs typeface="Calibri" pitchFamily="34" charset="-120"/>
              </a:rPr>
              <a:t>Prepared by:  </a:t>
            </a:r>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Sai Varshini R
</a:t>
            </a:r>
            <a:pPr indent="0" marL="0">
              <a:lnSpc>
                <a:spcPct val="135000"/>
              </a:lnSpc>
              <a:buNone/>
            </a:pPr>
            <a:r>
              <a:rPr lang="en-US" sz="1300" b="1" dirty="0">
                <a:solidFill>
                  <a:srgbClr val="CADCFC"/>
                </a:solidFill>
                <a:latin typeface="Calibri" pitchFamily="34" charset="0"/>
                <a:ea typeface="Calibri" pitchFamily="34" charset="-122"/>
                <a:cs typeface="Calibri" pitchFamily="34" charset="-120"/>
              </a:rPr>
              <a:t>Course:  </a:t>
            </a:r>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Data Analytics
</a:t>
            </a:r>
            <a:pPr indent="0" marL="0">
              <a:lnSpc>
                <a:spcPct val="135000"/>
              </a:lnSpc>
              <a:buNone/>
            </a:pPr>
            <a:r>
              <a:rPr lang="en-US" sz="1300" b="1" dirty="0">
                <a:solidFill>
                  <a:srgbClr val="CADCFC"/>
                </a:solidFill>
                <a:latin typeface="Calibri" pitchFamily="34" charset="0"/>
                <a:ea typeface="Calibri" pitchFamily="34" charset="-122"/>
                <a:cs typeface="Calibri" pitchFamily="34" charset="-120"/>
              </a:rPr>
              <a:t>Tools Used:  </a:t>
            </a:r>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Python (Pandas, NumPy), Power BI
</a:t>
            </a:r>
            <a:pPr indent="0" marL="0">
              <a:lnSpc>
                <a:spcPct val="135000"/>
              </a:lnSpc>
              <a:buNone/>
            </a:pPr>
            <a:r>
              <a:rPr lang="en-US" sz="1300" b="1" dirty="0">
                <a:solidFill>
                  <a:srgbClr val="CADCFC"/>
                </a:solidFill>
                <a:latin typeface="Calibri" pitchFamily="34" charset="0"/>
                <a:ea typeface="Calibri" pitchFamily="34" charset="-122"/>
                <a:cs typeface="Calibri" pitchFamily="34" charset="-120"/>
              </a:rPr>
              <a:t>Date:  </a:t>
            </a:r>
            <a:pPr indent="0" marL="0">
              <a:lnSpc>
                <a:spcPct val="135000"/>
              </a:lnSpc>
              <a:buNone/>
            </a:pPr>
            <a:r>
              <a:rPr lang="en-US" sz="1300" dirty="0">
                <a:solidFill>
                  <a:srgbClr val="FFFFFF"/>
                </a:solidFill>
                <a:latin typeface="Calibri" pitchFamily="34" charset="0"/>
                <a:ea typeface="Calibri" pitchFamily="34" charset="-122"/>
                <a:cs typeface="Calibri" pitchFamily="34" charset="-120"/>
              </a:rPr>
              <a:t>September 12,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WHAT WE'LL COVER</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548640" y="1600200"/>
            <a:ext cx="502920" cy="502920"/>
          </a:xfrm>
          <a:prstGeom prst="ellipse">
            <a:avLst/>
          </a:prstGeom>
          <a:solidFill>
            <a:srgbClr val="065A82"/>
          </a:solidFill>
          <a:ln/>
        </p:spPr>
      </p:sp>
      <p:sp>
        <p:nvSpPr>
          <p:cNvPr id="5" name="Text 3"/>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1</a:t>
            </a:r>
            <a:endParaRPr lang="en-US" sz="1540" dirty="0"/>
          </a:p>
        </p:txBody>
      </p:sp>
      <p:sp>
        <p:nvSpPr>
          <p:cNvPr id="6" name="Text 4"/>
          <p:cNvSpPr txBox="1"/>
          <p:nvPr/>
        </p:nvSpPr>
        <p:spPr>
          <a:xfrm>
            <a:off x="1234440" y="154533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Executive Summary</a:t>
            </a:r>
            <a:endParaRPr lang="en-US" sz="1600" dirty="0"/>
          </a:p>
        </p:txBody>
      </p:sp>
      <p:sp>
        <p:nvSpPr>
          <p:cNvPr id="7" name="Text 5"/>
          <p:cNvSpPr txBox="1"/>
          <p:nvPr/>
        </p:nvSpPr>
        <p:spPr>
          <a:xfrm>
            <a:off x="1234440" y="189280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The headline result in brief</a:t>
            </a:r>
            <a:endParaRPr lang="en-US" sz="1150" dirty="0"/>
          </a:p>
        </p:txBody>
      </p:sp>
      <p:sp>
        <p:nvSpPr>
          <p:cNvPr id="8" name="Shape 6"/>
          <p:cNvSpPr/>
          <p:nvPr/>
        </p:nvSpPr>
        <p:spPr>
          <a:xfrm>
            <a:off x="548640" y="2651760"/>
            <a:ext cx="502920" cy="502920"/>
          </a:xfrm>
          <a:prstGeom prst="ellipse">
            <a:avLst/>
          </a:prstGeom>
          <a:solidFill>
            <a:srgbClr val="065A82"/>
          </a:solidFill>
          <a:ln/>
        </p:spPr>
      </p:sp>
      <p:sp>
        <p:nvSpPr>
          <p:cNvPr id="9" name="Text 7"/>
          <p:cNvSpPr txBox="1"/>
          <p:nvPr/>
        </p:nvSpPr>
        <p:spPr>
          <a:xfrm>
            <a:off x="548640" y="265176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2</a:t>
            </a:r>
            <a:endParaRPr lang="en-US" sz="1540" dirty="0"/>
          </a:p>
        </p:txBody>
      </p:sp>
      <p:sp>
        <p:nvSpPr>
          <p:cNvPr id="10" name="Text 8"/>
          <p:cNvSpPr txBox="1"/>
          <p:nvPr/>
        </p:nvSpPr>
        <p:spPr>
          <a:xfrm>
            <a:off x="1234440" y="259689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Objectives &amp; Workflow</a:t>
            </a:r>
            <a:endParaRPr lang="en-US" sz="1600" dirty="0"/>
          </a:p>
        </p:txBody>
      </p:sp>
      <p:sp>
        <p:nvSpPr>
          <p:cNvPr id="11" name="Text 9"/>
          <p:cNvSpPr txBox="1"/>
          <p:nvPr/>
        </p:nvSpPr>
        <p:spPr>
          <a:xfrm>
            <a:off x="1234440" y="294436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Why this project, and how it was run</a:t>
            </a:r>
            <a:endParaRPr lang="en-US" sz="1150" dirty="0"/>
          </a:p>
        </p:txBody>
      </p:sp>
      <p:sp>
        <p:nvSpPr>
          <p:cNvPr id="12" name="Shape 10"/>
          <p:cNvSpPr/>
          <p:nvPr/>
        </p:nvSpPr>
        <p:spPr>
          <a:xfrm>
            <a:off x="548640" y="3703320"/>
            <a:ext cx="502920" cy="502920"/>
          </a:xfrm>
          <a:prstGeom prst="ellipse">
            <a:avLst/>
          </a:prstGeom>
          <a:solidFill>
            <a:srgbClr val="065A82"/>
          </a:solidFill>
          <a:ln/>
        </p:spPr>
      </p:sp>
      <p:sp>
        <p:nvSpPr>
          <p:cNvPr id="13" name="Text 11"/>
          <p:cNvSpPr txBox="1"/>
          <p:nvPr/>
        </p:nvSpPr>
        <p:spPr>
          <a:xfrm>
            <a:off x="548640" y="370332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3</a:t>
            </a:r>
            <a:endParaRPr lang="en-US" sz="1540" dirty="0"/>
          </a:p>
        </p:txBody>
      </p:sp>
      <p:sp>
        <p:nvSpPr>
          <p:cNvPr id="14" name="Text 12"/>
          <p:cNvSpPr txBox="1"/>
          <p:nvPr/>
        </p:nvSpPr>
        <p:spPr>
          <a:xfrm>
            <a:off x="1234440" y="364845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Dataset Overview</a:t>
            </a:r>
            <a:endParaRPr lang="en-US" sz="1600" dirty="0"/>
          </a:p>
        </p:txBody>
      </p:sp>
      <p:sp>
        <p:nvSpPr>
          <p:cNvPr id="15" name="Text 13"/>
          <p:cNvSpPr txBox="1"/>
          <p:nvPr/>
        </p:nvSpPr>
        <p:spPr>
          <a:xfrm>
            <a:off x="1234440" y="399592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200,000 campaigns, 17 fields</a:t>
            </a:r>
            <a:endParaRPr lang="en-US" sz="1150" dirty="0"/>
          </a:p>
        </p:txBody>
      </p:sp>
      <p:sp>
        <p:nvSpPr>
          <p:cNvPr id="16" name="Shape 14"/>
          <p:cNvSpPr/>
          <p:nvPr/>
        </p:nvSpPr>
        <p:spPr>
          <a:xfrm>
            <a:off x="548640" y="4754880"/>
            <a:ext cx="502920" cy="502920"/>
          </a:xfrm>
          <a:prstGeom prst="ellipse">
            <a:avLst/>
          </a:prstGeom>
          <a:solidFill>
            <a:srgbClr val="065A82"/>
          </a:solidFill>
          <a:ln/>
        </p:spPr>
      </p:sp>
      <p:sp>
        <p:nvSpPr>
          <p:cNvPr id="17" name="Text 15"/>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4</a:t>
            </a:r>
            <a:endParaRPr lang="en-US" sz="1540" dirty="0"/>
          </a:p>
        </p:txBody>
      </p:sp>
      <p:sp>
        <p:nvSpPr>
          <p:cNvPr id="18" name="Text 16"/>
          <p:cNvSpPr txBox="1"/>
          <p:nvPr/>
        </p:nvSpPr>
        <p:spPr>
          <a:xfrm>
            <a:off x="1234440" y="470001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Exploratory Analysis</a:t>
            </a:r>
            <a:endParaRPr lang="en-US" sz="1600" dirty="0"/>
          </a:p>
        </p:txBody>
      </p:sp>
      <p:sp>
        <p:nvSpPr>
          <p:cNvPr id="19" name="Text 17"/>
          <p:cNvSpPr txBox="1"/>
          <p:nvPr/>
        </p:nvSpPr>
        <p:spPr>
          <a:xfrm>
            <a:off x="1234440" y="504748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Distributions, KPIs &amp; relationships</a:t>
            </a:r>
            <a:endParaRPr lang="en-US" sz="1150" dirty="0"/>
          </a:p>
        </p:txBody>
      </p:sp>
      <p:sp>
        <p:nvSpPr>
          <p:cNvPr id="20" name="Shape 18"/>
          <p:cNvSpPr/>
          <p:nvPr/>
        </p:nvSpPr>
        <p:spPr>
          <a:xfrm>
            <a:off x="6263640" y="1600200"/>
            <a:ext cx="502920" cy="502920"/>
          </a:xfrm>
          <a:prstGeom prst="ellipse">
            <a:avLst/>
          </a:prstGeom>
          <a:solidFill>
            <a:srgbClr val="1C7293"/>
          </a:solidFill>
          <a:ln/>
        </p:spPr>
      </p:sp>
      <p:sp>
        <p:nvSpPr>
          <p:cNvPr id="21" name="Text 19"/>
          <p:cNvSpPr txBox="1"/>
          <p:nvPr/>
        </p:nvSpPr>
        <p:spPr>
          <a:xfrm>
            <a:off x="6263640" y="160020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5</a:t>
            </a:r>
            <a:endParaRPr lang="en-US" sz="1540" dirty="0"/>
          </a:p>
        </p:txBody>
      </p:sp>
      <p:sp>
        <p:nvSpPr>
          <p:cNvPr id="22" name="Text 20"/>
          <p:cNvSpPr txBox="1"/>
          <p:nvPr/>
        </p:nvSpPr>
        <p:spPr>
          <a:xfrm>
            <a:off x="6949440" y="154533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Category Comparison</a:t>
            </a:r>
            <a:endParaRPr lang="en-US" sz="1600" dirty="0"/>
          </a:p>
        </p:txBody>
      </p:sp>
      <p:sp>
        <p:nvSpPr>
          <p:cNvPr id="23" name="Text 21"/>
          <p:cNvSpPr txBox="1"/>
          <p:nvPr/>
        </p:nvSpPr>
        <p:spPr>
          <a:xfrm>
            <a:off x="6949440" y="189280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Do channels or segments really differ?</a:t>
            </a:r>
            <a:endParaRPr lang="en-US" sz="1150" dirty="0"/>
          </a:p>
        </p:txBody>
      </p:sp>
      <p:sp>
        <p:nvSpPr>
          <p:cNvPr id="24" name="Shape 22"/>
          <p:cNvSpPr/>
          <p:nvPr/>
        </p:nvSpPr>
        <p:spPr>
          <a:xfrm>
            <a:off x="6263640" y="2651760"/>
            <a:ext cx="502920" cy="502920"/>
          </a:xfrm>
          <a:prstGeom prst="ellipse">
            <a:avLst/>
          </a:prstGeom>
          <a:solidFill>
            <a:srgbClr val="1C7293"/>
          </a:solidFill>
          <a:ln/>
        </p:spPr>
      </p:sp>
      <p:sp>
        <p:nvSpPr>
          <p:cNvPr id="25" name="Text 23"/>
          <p:cNvSpPr txBox="1"/>
          <p:nvPr/>
        </p:nvSpPr>
        <p:spPr>
          <a:xfrm>
            <a:off x="6263640" y="265176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6</a:t>
            </a:r>
            <a:endParaRPr lang="en-US" sz="1540" dirty="0"/>
          </a:p>
        </p:txBody>
      </p:sp>
      <p:sp>
        <p:nvSpPr>
          <p:cNvPr id="26" name="Text 24"/>
          <p:cNvSpPr txBox="1"/>
          <p:nvPr/>
        </p:nvSpPr>
        <p:spPr>
          <a:xfrm>
            <a:off x="6949440" y="259689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Power BI Dashboard</a:t>
            </a:r>
            <a:endParaRPr lang="en-US" sz="1600" dirty="0"/>
          </a:p>
        </p:txBody>
      </p:sp>
      <p:sp>
        <p:nvSpPr>
          <p:cNvPr id="27" name="Text 25"/>
          <p:cNvSpPr txBox="1"/>
          <p:nvPr/>
        </p:nvSpPr>
        <p:spPr>
          <a:xfrm>
            <a:off x="6949440" y="294436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A 3-page interactive companion</a:t>
            </a:r>
            <a:endParaRPr lang="en-US" sz="1150" dirty="0"/>
          </a:p>
        </p:txBody>
      </p:sp>
      <p:sp>
        <p:nvSpPr>
          <p:cNvPr id="28" name="Shape 26"/>
          <p:cNvSpPr/>
          <p:nvPr/>
        </p:nvSpPr>
        <p:spPr>
          <a:xfrm>
            <a:off x="6263640" y="3703320"/>
            <a:ext cx="502920" cy="502920"/>
          </a:xfrm>
          <a:prstGeom prst="ellipse">
            <a:avLst/>
          </a:prstGeom>
          <a:solidFill>
            <a:srgbClr val="1C7293"/>
          </a:solidFill>
          <a:ln/>
        </p:spPr>
      </p:sp>
      <p:sp>
        <p:nvSpPr>
          <p:cNvPr id="29" name="Text 27"/>
          <p:cNvSpPr txBox="1"/>
          <p:nvPr/>
        </p:nvSpPr>
        <p:spPr>
          <a:xfrm>
            <a:off x="6263640" y="370332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7</a:t>
            </a:r>
            <a:endParaRPr lang="en-US" sz="1540" dirty="0"/>
          </a:p>
        </p:txBody>
      </p:sp>
      <p:sp>
        <p:nvSpPr>
          <p:cNvPr id="30" name="Text 28"/>
          <p:cNvSpPr txBox="1"/>
          <p:nvPr/>
        </p:nvSpPr>
        <p:spPr>
          <a:xfrm>
            <a:off x="6949440" y="364845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Findings &amp; Recommendations</a:t>
            </a:r>
            <a:endParaRPr lang="en-US" sz="1600" dirty="0"/>
          </a:p>
        </p:txBody>
      </p:sp>
      <p:sp>
        <p:nvSpPr>
          <p:cNvPr id="31" name="Text 29"/>
          <p:cNvSpPr txBox="1"/>
          <p:nvPr/>
        </p:nvSpPr>
        <p:spPr>
          <a:xfrm>
            <a:off x="6949440" y="399592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What the data does — and doesn't — support</a:t>
            </a:r>
            <a:endParaRPr lang="en-US" sz="1150" dirty="0"/>
          </a:p>
        </p:txBody>
      </p:sp>
      <p:sp>
        <p:nvSpPr>
          <p:cNvPr id="32" name="Shape 30"/>
          <p:cNvSpPr/>
          <p:nvPr/>
        </p:nvSpPr>
        <p:spPr>
          <a:xfrm>
            <a:off x="6263640" y="4754880"/>
            <a:ext cx="502920" cy="502920"/>
          </a:xfrm>
          <a:prstGeom prst="ellipse">
            <a:avLst/>
          </a:prstGeom>
          <a:solidFill>
            <a:srgbClr val="1C7293"/>
          </a:solidFill>
          <a:ln/>
        </p:spPr>
      </p:sp>
      <p:sp>
        <p:nvSpPr>
          <p:cNvPr id="33" name="Text 31"/>
          <p:cNvSpPr txBox="1"/>
          <p:nvPr/>
        </p:nvSpPr>
        <p:spPr>
          <a:xfrm>
            <a:off x="6263640" y="475488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8</a:t>
            </a:r>
            <a:endParaRPr lang="en-US" sz="1540" dirty="0"/>
          </a:p>
        </p:txBody>
      </p:sp>
      <p:sp>
        <p:nvSpPr>
          <p:cNvPr id="34" name="Text 32"/>
          <p:cNvSpPr txBox="1"/>
          <p:nvPr/>
        </p:nvSpPr>
        <p:spPr>
          <a:xfrm>
            <a:off x="6949440" y="4700016"/>
            <a:ext cx="452628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Limitations &amp; Conclusion</a:t>
            </a:r>
            <a:endParaRPr lang="en-US" sz="1600" dirty="0"/>
          </a:p>
        </p:txBody>
      </p:sp>
      <p:sp>
        <p:nvSpPr>
          <p:cNvPr id="35" name="Text 33"/>
          <p:cNvSpPr txBox="1"/>
          <p:nvPr/>
        </p:nvSpPr>
        <p:spPr>
          <a:xfrm>
            <a:off x="6949440" y="5047488"/>
            <a:ext cx="4526280" cy="36576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Reading the results honestly</a:t>
            </a:r>
            <a:endParaRPr lang="en-US" sz="1150" dirty="0"/>
          </a:p>
        </p:txBody>
      </p:sp>
      <p:sp>
        <p:nvSpPr>
          <p:cNvPr id="36" name="Text 34"/>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37" name="Text 3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1</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Executive Summary</a:t>
            </a:r>
            <a:endParaRPr lang="en-US" sz="3000" dirty="0"/>
          </a:p>
        </p:txBody>
      </p:sp>
      <p:sp>
        <p:nvSpPr>
          <p:cNvPr id="4" name="Text 2"/>
          <p:cNvSpPr txBox="1"/>
          <p:nvPr/>
        </p:nvSpPr>
        <p:spPr>
          <a:xfrm>
            <a:off x="548640" y="1508760"/>
            <a:ext cx="6675120" cy="2011680"/>
          </a:xfrm>
          <a:prstGeom prst="rect">
            <a:avLst/>
          </a:prstGeom>
          <a:noFill/>
          <a:ln/>
        </p:spPr>
        <p:txBody>
          <a:bodyPr wrap="square" lIns="0" tIns="0" rIns="0" bIns="0" rtlCol="0" anchor="ctr"/>
          <a:lstStyle/>
          <a:p>
            <a:pPr indent="0" marL="0">
              <a:lnSpc>
                <a:spcPct val="130000"/>
              </a:lnSpc>
              <a:buNone/>
            </a:pPr>
            <a:r>
              <a:rPr lang="en-US" sz="1450" dirty="0">
                <a:solidFill>
                  <a:srgbClr val="21295C"/>
                </a:solidFill>
                <a:latin typeface="Calibri" pitchFamily="34" charset="0"/>
                <a:ea typeface="Calibri" pitchFamily="34" charset="-122"/>
                <a:cs typeface="Calibri" pitchFamily="34" charset="-120"/>
              </a:rPr>
              <a:t>A full-year, 200,000-record marketing dataset was cleaned in Python, then built into a three-page Power BI dashboard. The headline finding is nuanced: performance barely differs across campaign types, channels, segments, or companies — the one relationship that consistently holds is the mechanical link between Clicks, Impressions, and CTR.</a:t>
            </a:r>
            <a:endParaRPr lang="en-US" sz="1450" dirty="0"/>
          </a:p>
        </p:txBody>
      </p:sp>
      <p:sp>
        <p:nvSpPr>
          <p:cNvPr id="5" name="Text 3"/>
          <p:cNvSpPr txBox="1"/>
          <p:nvPr/>
        </p:nvSpPr>
        <p:spPr>
          <a:xfrm>
            <a:off x="548640" y="3703320"/>
            <a:ext cx="6675120" cy="1554480"/>
          </a:xfrm>
          <a:prstGeom prst="rect">
            <a:avLst/>
          </a:prstGeom>
          <a:noFill/>
          <a:ln/>
        </p:spPr>
        <p:txBody>
          <a:bodyPr wrap="square" lIns="0" tIns="0" rIns="0" bIns="0" rtlCol="0" anchor="ctr"/>
          <a:lstStyle/>
          <a:p>
            <a:pPr indent="0" marL="0">
              <a:lnSpc>
                <a:spcPct val="130000"/>
              </a:lnSpc>
              <a:buNone/>
            </a:pPr>
            <a:r>
              <a:rPr lang="en-US" sz="1300" i="1" dirty="0">
                <a:solidFill>
                  <a:srgbClr val="5B6B79"/>
                </a:solidFill>
                <a:latin typeface="Calibri" pitchFamily="34" charset="0"/>
                <a:ea typeface="Calibri" pitchFamily="34" charset="-122"/>
                <a:cs typeface="Calibri" pitchFamily="34" charset="-120"/>
              </a:rPr>
              <a:t>This matters for how the results should be used: bar-chart differences that look meaningful (‘Influencer has the highest ROI’) do not hold up once compared against the full spread of the data — and reporting that distinction honestly is itself a core analytics skill.</a:t>
            </a:r>
            <a:endParaRPr lang="en-US" sz="1300" dirty="0"/>
          </a:p>
        </p:txBody>
      </p:sp>
      <p:sp>
        <p:nvSpPr>
          <p:cNvPr id="6" name="Shape 4"/>
          <p:cNvSpPr/>
          <p:nvPr/>
        </p:nvSpPr>
        <p:spPr>
          <a:xfrm>
            <a:off x="7543800" y="1508760"/>
            <a:ext cx="4114800" cy="1371600"/>
          </a:xfrm>
          <a:prstGeom prst="roundRect">
            <a:avLst>
              <a:gd name="adj" fmla="val 5333"/>
            </a:avLst>
          </a:prstGeom>
          <a:solidFill>
            <a:srgbClr val="F5F8FA"/>
          </a:solidFill>
          <a:ln/>
        </p:spPr>
      </p:sp>
      <p:sp>
        <p:nvSpPr>
          <p:cNvPr id="7" name="Text 5"/>
          <p:cNvSpPr txBox="1"/>
          <p:nvPr/>
        </p:nvSpPr>
        <p:spPr>
          <a:xfrm>
            <a:off x="7818120" y="1645920"/>
            <a:ext cx="3566160" cy="68580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200,000</a:t>
            </a:r>
            <a:endParaRPr lang="en-US" sz="3200" dirty="0"/>
          </a:p>
        </p:txBody>
      </p:sp>
      <p:sp>
        <p:nvSpPr>
          <p:cNvPr id="8" name="Text 6"/>
          <p:cNvSpPr txBox="1"/>
          <p:nvPr/>
        </p:nvSpPr>
        <p:spPr>
          <a:xfrm>
            <a:off x="7818120" y="2331720"/>
            <a:ext cx="3566160" cy="45720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campaign records analyzed</a:t>
            </a:r>
            <a:endParaRPr lang="en-US" sz="1200" dirty="0"/>
          </a:p>
        </p:txBody>
      </p:sp>
      <p:sp>
        <p:nvSpPr>
          <p:cNvPr id="9" name="Shape 7"/>
          <p:cNvSpPr/>
          <p:nvPr/>
        </p:nvSpPr>
        <p:spPr>
          <a:xfrm>
            <a:off x="7543800" y="3108960"/>
            <a:ext cx="4114800" cy="1371600"/>
          </a:xfrm>
          <a:prstGeom prst="roundRect">
            <a:avLst>
              <a:gd name="adj" fmla="val 5333"/>
            </a:avLst>
          </a:prstGeom>
          <a:solidFill>
            <a:srgbClr val="21295C"/>
          </a:solidFill>
          <a:ln/>
        </p:spPr>
      </p:sp>
      <p:sp>
        <p:nvSpPr>
          <p:cNvPr id="10" name="Text 8"/>
          <p:cNvSpPr txBox="1"/>
          <p:nvPr/>
        </p:nvSpPr>
        <p:spPr>
          <a:xfrm>
            <a:off x="7818120" y="3246120"/>
            <a:ext cx="3566160" cy="685800"/>
          </a:xfrm>
          <a:prstGeom prst="rect">
            <a:avLst/>
          </a:prstGeom>
          <a:noFill/>
          <a:ln/>
        </p:spPr>
        <p:txBody>
          <a:bodyPr wrap="square" lIns="0" tIns="0" rIns="0" bIns="0" rtlCol="0" anchor="ctr"/>
          <a:lstStyle/>
          <a:p>
            <a:pPr indent="0" marL="0">
              <a:buNone/>
            </a:pPr>
            <a:r>
              <a:rPr lang="en-US" sz="3200" b="1" dirty="0">
                <a:solidFill>
                  <a:srgbClr val="F2A541"/>
                </a:solidFill>
                <a:latin typeface="Cambria" pitchFamily="34" charset="0"/>
                <a:ea typeface="Cambria" pitchFamily="34" charset="-122"/>
                <a:cs typeface="Cambria" pitchFamily="34" charset="-120"/>
              </a:rPr>
              <a:t>&lt; 1%</a:t>
            </a:r>
            <a:endParaRPr lang="en-US" sz="3200" dirty="0"/>
          </a:p>
        </p:txBody>
      </p:sp>
      <p:sp>
        <p:nvSpPr>
          <p:cNvPr id="11" name="Text 9"/>
          <p:cNvSpPr txBox="1"/>
          <p:nvPr/>
        </p:nvSpPr>
        <p:spPr>
          <a:xfrm>
            <a:off x="7818120" y="3931920"/>
            <a:ext cx="35661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spread between best &amp; worst category averages</a:t>
            </a:r>
            <a:endParaRPr lang="en-US" sz="1200" dirty="0"/>
          </a:p>
        </p:txBody>
      </p:sp>
      <p:sp>
        <p:nvSpPr>
          <p:cNvPr id="12" name="Shape 10"/>
          <p:cNvSpPr/>
          <p:nvPr/>
        </p:nvSpPr>
        <p:spPr>
          <a:xfrm>
            <a:off x="7543800" y="4709160"/>
            <a:ext cx="4114800" cy="1371600"/>
          </a:xfrm>
          <a:prstGeom prst="roundRect">
            <a:avLst>
              <a:gd name="adj" fmla="val 5333"/>
            </a:avLst>
          </a:prstGeom>
          <a:solidFill>
            <a:srgbClr val="F5F8FA"/>
          </a:solidFill>
          <a:ln/>
        </p:spPr>
      </p:sp>
      <p:sp>
        <p:nvSpPr>
          <p:cNvPr id="13" name="Text 11"/>
          <p:cNvSpPr txBox="1"/>
          <p:nvPr/>
        </p:nvSpPr>
        <p:spPr>
          <a:xfrm>
            <a:off x="7818120" y="4846320"/>
            <a:ext cx="3566160" cy="685800"/>
          </a:xfrm>
          <a:prstGeom prst="rect">
            <a:avLst/>
          </a:prstGeom>
          <a:noFill/>
          <a:ln/>
        </p:spPr>
        <p:txBody>
          <a:bodyPr wrap="square" lIns="0" tIns="0" rIns="0" bIns="0" rtlCol="0" anchor="ctr"/>
          <a:lstStyle/>
          <a:p>
            <a:pPr indent="0" marL="0">
              <a:buNone/>
            </a:pPr>
            <a:r>
              <a:rPr lang="en-US" sz="3200" b="1" dirty="0">
                <a:solidFill>
                  <a:srgbClr val="065A82"/>
                </a:solidFill>
                <a:latin typeface="Cambria" pitchFamily="34" charset="0"/>
                <a:ea typeface="Cambria" pitchFamily="34" charset="-122"/>
                <a:cs typeface="Cambria" pitchFamily="34" charset="-120"/>
              </a:rPr>
              <a:t>3-page</a:t>
            </a:r>
            <a:endParaRPr lang="en-US" sz="3200" dirty="0"/>
          </a:p>
        </p:txBody>
      </p:sp>
      <p:sp>
        <p:nvSpPr>
          <p:cNvPr id="14" name="Text 12"/>
          <p:cNvSpPr txBox="1"/>
          <p:nvPr/>
        </p:nvSpPr>
        <p:spPr>
          <a:xfrm>
            <a:off x="7818120" y="5532120"/>
            <a:ext cx="3566160" cy="457200"/>
          </a:xfrm>
          <a:prstGeom prst="rect">
            <a:avLst/>
          </a:prstGeom>
          <a:noFill/>
          <a:ln/>
        </p:spPr>
        <p:txBody>
          <a:bodyPr wrap="square" lIns="0" tIns="0" rIns="0" bIns="0" rtlCol="0" anchor="ctr"/>
          <a:lstStyle/>
          <a:p>
            <a:pPr indent="0" marL="0">
              <a:buNone/>
            </a:pPr>
            <a:r>
              <a:rPr lang="en-US" sz="1200" dirty="0">
                <a:solidFill>
                  <a:srgbClr val="5B6B79"/>
                </a:solidFill>
                <a:latin typeface="Calibri" pitchFamily="34" charset="0"/>
                <a:ea typeface="Calibri" pitchFamily="34" charset="-122"/>
                <a:cs typeface="Calibri" pitchFamily="34" charset="-120"/>
              </a:rPr>
              <a:t>interactive Power BI dashboard</a:t>
            </a:r>
            <a:endParaRPr lang="en-US" sz="1200" dirty="0"/>
          </a:p>
        </p:txBody>
      </p:sp>
      <p:sp>
        <p:nvSpPr>
          <p:cNvPr id="15" name="Text 13"/>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16" name="Text 14"/>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2</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Objectives &amp; Workflow</a:t>
            </a:r>
            <a:endParaRPr lang="en-US" sz="3000" dirty="0"/>
          </a:p>
        </p:txBody>
      </p:sp>
      <p:sp>
        <p:nvSpPr>
          <p:cNvPr id="4" name="Text 2"/>
          <p:cNvSpPr txBox="1"/>
          <p:nvPr/>
        </p:nvSpPr>
        <p:spPr>
          <a:xfrm>
            <a:off x="548640" y="1463040"/>
            <a:ext cx="54864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PROJECT OBJECTIVES</a:t>
            </a:r>
            <a:endParaRPr lang="en-US" sz="1300" dirty="0"/>
          </a:p>
        </p:txBody>
      </p:sp>
      <p:sp>
        <p:nvSpPr>
          <p:cNvPr id="5" name="Shape 3"/>
          <p:cNvSpPr/>
          <p:nvPr/>
        </p:nvSpPr>
        <p:spPr>
          <a:xfrm>
            <a:off x="594360" y="1947672"/>
            <a:ext cx="109728" cy="109728"/>
          </a:xfrm>
          <a:prstGeom prst="ellipse">
            <a:avLst/>
          </a:prstGeom>
          <a:solidFill>
            <a:srgbClr val="F2A541"/>
          </a:solidFill>
          <a:ln/>
        </p:spPr>
      </p:sp>
      <p:sp>
        <p:nvSpPr>
          <p:cNvPr id="6" name="Text 4"/>
          <p:cNvSpPr txBox="1"/>
          <p:nvPr/>
        </p:nvSpPr>
        <p:spPr>
          <a:xfrm>
            <a:off x="868680" y="1783080"/>
            <a:ext cx="5577840" cy="502920"/>
          </a:xfrm>
          <a:prstGeom prst="rect">
            <a:avLst/>
          </a:prstGeom>
          <a:noFill/>
          <a:ln/>
        </p:spPr>
        <p:txBody>
          <a:bodyPr wrap="square" lIns="0" tIns="0" rIns="0" bIns="0" rtlCol="0" anchor="ctr"/>
          <a:lstStyle/>
          <a:p>
            <a:pPr indent="0" marL="0">
              <a:lnSpc>
                <a:spcPct val="110000"/>
              </a:lnSpc>
              <a:buNone/>
            </a:pPr>
            <a:r>
              <a:rPr lang="en-US" sz="1250" dirty="0">
                <a:solidFill>
                  <a:srgbClr val="21295C"/>
                </a:solidFill>
                <a:latin typeface="Calibri" pitchFamily="34" charset="0"/>
                <a:ea typeface="Calibri" pitchFamily="34" charset="-122"/>
                <a:cs typeface="Calibri" pitchFamily="34" charset="-120"/>
              </a:rPr>
              <a:t>Clean &amp; validate a 200,000-row marketing dataset</a:t>
            </a:r>
            <a:endParaRPr lang="en-US" sz="1250" dirty="0"/>
          </a:p>
        </p:txBody>
      </p:sp>
      <p:sp>
        <p:nvSpPr>
          <p:cNvPr id="7" name="Shape 5"/>
          <p:cNvSpPr/>
          <p:nvPr/>
        </p:nvSpPr>
        <p:spPr>
          <a:xfrm>
            <a:off x="594360" y="2606040"/>
            <a:ext cx="109728" cy="109728"/>
          </a:xfrm>
          <a:prstGeom prst="ellipse">
            <a:avLst/>
          </a:prstGeom>
          <a:solidFill>
            <a:srgbClr val="F2A541"/>
          </a:solidFill>
          <a:ln/>
        </p:spPr>
      </p:sp>
      <p:sp>
        <p:nvSpPr>
          <p:cNvPr id="8" name="Text 6"/>
          <p:cNvSpPr txBox="1"/>
          <p:nvPr/>
        </p:nvSpPr>
        <p:spPr>
          <a:xfrm>
            <a:off x="868680" y="2441448"/>
            <a:ext cx="5577840" cy="502920"/>
          </a:xfrm>
          <a:prstGeom prst="rect">
            <a:avLst/>
          </a:prstGeom>
          <a:noFill/>
          <a:ln/>
        </p:spPr>
        <p:txBody>
          <a:bodyPr wrap="square" lIns="0" tIns="0" rIns="0" bIns="0" rtlCol="0" anchor="ctr"/>
          <a:lstStyle/>
          <a:p>
            <a:pPr indent="0" marL="0">
              <a:lnSpc>
                <a:spcPct val="110000"/>
              </a:lnSpc>
              <a:buNone/>
            </a:pPr>
            <a:r>
              <a:rPr lang="en-US" sz="1250" dirty="0">
                <a:solidFill>
                  <a:srgbClr val="21295C"/>
                </a:solidFill>
                <a:latin typeface="Calibri" pitchFamily="34" charset="0"/>
                <a:ea typeface="Calibri" pitchFamily="34" charset="-122"/>
                <a:cs typeface="Calibri" pitchFamily="34" charset="-120"/>
              </a:rPr>
              <a:t>Explore 7 core KPIs: Conversion Rate, ROI, Cost, Clicks, Impressions, CTR, Engagement</a:t>
            </a:r>
            <a:endParaRPr lang="en-US" sz="1250" dirty="0"/>
          </a:p>
        </p:txBody>
      </p:sp>
      <p:sp>
        <p:nvSpPr>
          <p:cNvPr id="9" name="Shape 7"/>
          <p:cNvSpPr/>
          <p:nvPr/>
        </p:nvSpPr>
        <p:spPr>
          <a:xfrm>
            <a:off x="594360" y="3264408"/>
            <a:ext cx="109728" cy="109728"/>
          </a:xfrm>
          <a:prstGeom prst="ellipse">
            <a:avLst/>
          </a:prstGeom>
          <a:solidFill>
            <a:srgbClr val="F2A541"/>
          </a:solidFill>
          <a:ln/>
        </p:spPr>
      </p:sp>
      <p:sp>
        <p:nvSpPr>
          <p:cNvPr id="10" name="Text 8"/>
          <p:cNvSpPr txBox="1"/>
          <p:nvPr/>
        </p:nvSpPr>
        <p:spPr>
          <a:xfrm>
            <a:off x="868680" y="3099816"/>
            <a:ext cx="5577840" cy="502920"/>
          </a:xfrm>
          <a:prstGeom prst="rect">
            <a:avLst/>
          </a:prstGeom>
          <a:noFill/>
          <a:ln/>
        </p:spPr>
        <p:txBody>
          <a:bodyPr wrap="square" lIns="0" tIns="0" rIns="0" bIns="0" rtlCol="0" anchor="ctr"/>
          <a:lstStyle/>
          <a:p>
            <a:pPr indent="0" marL="0">
              <a:lnSpc>
                <a:spcPct val="110000"/>
              </a:lnSpc>
              <a:buNone/>
            </a:pPr>
            <a:r>
              <a:rPr lang="en-US" sz="1250" dirty="0">
                <a:solidFill>
                  <a:srgbClr val="21295C"/>
                </a:solidFill>
                <a:latin typeface="Calibri" pitchFamily="34" charset="0"/>
                <a:ea typeface="Calibri" pitchFamily="34" charset="-122"/>
                <a:cs typeface="Calibri" pitchFamily="34" charset="-120"/>
              </a:rPr>
              <a:t>Compare performance across type, channel, segment, company &amp; geography</a:t>
            </a:r>
            <a:endParaRPr lang="en-US" sz="1250" dirty="0"/>
          </a:p>
        </p:txBody>
      </p:sp>
      <p:sp>
        <p:nvSpPr>
          <p:cNvPr id="11" name="Shape 9"/>
          <p:cNvSpPr/>
          <p:nvPr/>
        </p:nvSpPr>
        <p:spPr>
          <a:xfrm>
            <a:off x="594360" y="3922776"/>
            <a:ext cx="109728" cy="109728"/>
          </a:xfrm>
          <a:prstGeom prst="ellipse">
            <a:avLst/>
          </a:prstGeom>
          <a:solidFill>
            <a:srgbClr val="F2A541"/>
          </a:solidFill>
          <a:ln/>
        </p:spPr>
      </p:sp>
      <p:sp>
        <p:nvSpPr>
          <p:cNvPr id="12" name="Text 10"/>
          <p:cNvSpPr txBox="1"/>
          <p:nvPr/>
        </p:nvSpPr>
        <p:spPr>
          <a:xfrm>
            <a:off x="868680" y="3758184"/>
            <a:ext cx="5577840" cy="502920"/>
          </a:xfrm>
          <a:prstGeom prst="rect">
            <a:avLst/>
          </a:prstGeom>
          <a:noFill/>
          <a:ln/>
        </p:spPr>
        <p:txBody>
          <a:bodyPr wrap="square" lIns="0" tIns="0" rIns="0" bIns="0" rtlCol="0" anchor="ctr"/>
          <a:lstStyle/>
          <a:p>
            <a:pPr indent="0" marL="0">
              <a:lnSpc>
                <a:spcPct val="110000"/>
              </a:lnSpc>
              <a:buNone/>
            </a:pPr>
            <a:r>
              <a:rPr lang="en-US" sz="1250" dirty="0">
                <a:solidFill>
                  <a:srgbClr val="21295C"/>
                </a:solidFill>
                <a:latin typeface="Calibri" pitchFamily="34" charset="0"/>
                <a:ea typeface="Calibri" pitchFamily="34" charset="-122"/>
                <a:cs typeface="Calibri" pitchFamily="34" charset="-120"/>
              </a:rPr>
              <a:t>Build an interactive Power BI dashboard for stakeholders</a:t>
            </a:r>
            <a:endParaRPr lang="en-US" sz="1250" dirty="0"/>
          </a:p>
        </p:txBody>
      </p:sp>
      <p:sp>
        <p:nvSpPr>
          <p:cNvPr id="13" name="Shape 11"/>
          <p:cNvSpPr/>
          <p:nvPr/>
        </p:nvSpPr>
        <p:spPr>
          <a:xfrm>
            <a:off x="594360" y="4581144"/>
            <a:ext cx="109728" cy="109728"/>
          </a:xfrm>
          <a:prstGeom prst="ellipse">
            <a:avLst/>
          </a:prstGeom>
          <a:solidFill>
            <a:srgbClr val="F2A541"/>
          </a:solidFill>
          <a:ln/>
        </p:spPr>
      </p:sp>
      <p:sp>
        <p:nvSpPr>
          <p:cNvPr id="14" name="Text 12"/>
          <p:cNvSpPr txBox="1"/>
          <p:nvPr/>
        </p:nvSpPr>
        <p:spPr>
          <a:xfrm>
            <a:off x="868680" y="4416552"/>
            <a:ext cx="5577840" cy="502920"/>
          </a:xfrm>
          <a:prstGeom prst="rect">
            <a:avLst/>
          </a:prstGeom>
          <a:noFill/>
          <a:ln/>
        </p:spPr>
        <p:txBody>
          <a:bodyPr wrap="square" lIns="0" tIns="0" rIns="0" bIns="0" rtlCol="0" anchor="ctr"/>
          <a:lstStyle/>
          <a:p>
            <a:pPr indent="0" marL="0">
              <a:lnSpc>
                <a:spcPct val="110000"/>
              </a:lnSpc>
              <a:buNone/>
            </a:pPr>
            <a:r>
              <a:rPr lang="en-US" sz="1250" dirty="0">
                <a:solidFill>
                  <a:srgbClr val="21295C"/>
                </a:solidFill>
                <a:latin typeface="Calibri" pitchFamily="34" charset="0"/>
                <a:ea typeface="Calibri" pitchFamily="34" charset="-122"/>
                <a:cs typeface="Calibri" pitchFamily="34" charset="-120"/>
              </a:rPr>
              <a:t>Translate findings into actionable recommendations</a:t>
            </a:r>
            <a:endParaRPr lang="en-US" sz="1250" dirty="0"/>
          </a:p>
        </p:txBody>
      </p:sp>
      <p:sp>
        <p:nvSpPr>
          <p:cNvPr id="15" name="Shape 13"/>
          <p:cNvSpPr/>
          <p:nvPr/>
        </p:nvSpPr>
        <p:spPr>
          <a:xfrm>
            <a:off x="6858000" y="1463040"/>
            <a:ext cx="4800600" cy="4846320"/>
          </a:xfrm>
          <a:prstGeom prst="roundRect">
            <a:avLst>
              <a:gd name="adj" fmla="val 1524"/>
            </a:avLst>
          </a:prstGeom>
          <a:solidFill>
            <a:srgbClr val="F5F8FA"/>
          </a:solidFill>
          <a:ln/>
        </p:spPr>
      </p:sp>
      <p:sp>
        <p:nvSpPr>
          <p:cNvPr id="16" name="Text 14"/>
          <p:cNvSpPr txBox="1"/>
          <p:nvPr/>
        </p:nvSpPr>
        <p:spPr>
          <a:xfrm>
            <a:off x="7132320" y="1645920"/>
            <a:ext cx="420624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TOOLS &amp; WORKFLOW</a:t>
            </a:r>
            <a:endParaRPr lang="en-US" sz="1300" dirty="0"/>
          </a:p>
        </p:txBody>
      </p:sp>
      <p:sp>
        <p:nvSpPr>
          <p:cNvPr id="17" name="Shape 15"/>
          <p:cNvSpPr/>
          <p:nvPr/>
        </p:nvSpPr>
        <p:spPr>
          <a:xfrm>
            <a:off x="7178040" y="2148840"/>
            <a:ext cx="457200" cy="457200"/>
          </a:xfrm>
          <a:prstGeom prst="ellipse">
            <a:avLst/>
          </a:prstGeom>
          <a:solidFill>
            <a:srgbClr val="065A82"/>
          </a:solidFill>
          <a:ln/>
        </p:spPr>
      </p:sp>
      <p:sp>
        <p:nvSpPr>
          <p:cNvPr id="18" name="Text 16"/>
          <p:cNvSpPr txBox="1"/>
          <p:nvPr/>
        </p:nvSpPr>
        <p:spPr>
          <a:xfrm>
            <a:off x="7178040" y="2148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7772400" y="2093976"/>
            <a:ext cx="370332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Clean &amp; Prepare</a:t>
            </a:r>
            <a:endParaRPr lang="en-US" sz="1400" dirty="0"/>
          </a:p>
        </p:txBody>
      </p:sp>
      <p:sp>
        <p:nvSpPr>
          <p:cNvPr id="20" name="Text 18"/>
          <p:cNvSpPr txBox="1"/>
          <p:nvPr/>
        </p:nvSpPr>
        <p:spPr>
          <a:xfrm>
            <a:off x="7772400" y="2404872"/>
            <a:ext cx="3703320" cy="685800"/>
          </a:xfrm>
          <a:prstGeom prst="rect">
            <a:avLst/>
          </a:prstGeom>
          <a:noFill/>
          <a:ln/>
        </p:spPr>
        <p:txBody>
          <a:bodyPr wrap="square" lIns="0" tIns="0" rIns="0" bIns="0" rtlCol="0" anchor="ctr"/>
          <a:lstStyle/>
          <a:p>
            <a:pPr indent="0" marL="0">
              <a:lnSpc>
                <a:spcPct val="115000"/>
              </a:lnSpc>
              <a:buNone/>
            </a:pPr>
            <a:r>
              <a:rPr lang="en-US" sz="1050" dirty="0">
                <a:solidFill>
                  <a:srgbClr val="5B6B79"/>
                </a:solidFill>
                <a:latin typeface="Calibri" pitchFamily="34" charset="0"/>
                <a:ea typeface="Calibri" pitchFamily="34" charset="-122"/>
                <a:cs typeface="Calibri" pitchFamily="34" charset="-120"/>
              </a:rPr>
              <a:t>Python (Pandas, NumPy) in Google Colab — validation, duplicate checks, CTR column derived</a:t>
            </a:r>
            <a:endParaRPr lang="en-US" sz="1050" dirty="0"/>
          </a:p>
        </p:txBody>
      </p:sp>
      <p:sp>
        <p:nvSpPr>
          <p:cNvPr id="21" name="Shape 19"/>
          <p:cNvSpPr/>
          <p:nvPr/>
        </p:nvSpPr>
        <p:spPr>
          <a:xfrm>
            <a:off x="7178040" y="3200400"/>
            <a:ext cx="457200" cy="457200"/>
          </a:xfrm>
          <a:prstGeom prst="ellipse">
            <a:avLst/>
          </a:prstGeom>
          <a:solidFill>
            <a:srgbClr val="065A82"/>
          </a:solidFill>
          <a:ln/>
        </p:spPr>
      </p:sp>
      <p:sp>
        <p:nvSpPr>
          <p:cNvPr id="22" name="Text 20"/>
          <p:cNvSpPr txBox="1"/>
          <p:nvPr/>
        </p:nvSpPr>
        <p:spPr>
          <a:xfrm>
            <a:off x="717804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3" name="Text 21"/>
          <p:cNvSpPr txBox="1"/>
          <p:nvPr/>
        </p:nvSpPr>
        <p:spPr>
          <a:xfrm>
            <a:off x="7772400" y="3145536"/>
            <a:ext cx="370332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Analyze</a:t>
            </a:r>
            <a:endParaRPr lang="en-US" sz="1400" dirty="0"/>
          </a:p>
        </p:txBody>
      </p:sp>
      <p:sp>
        <p:nvSpPr>
          <p:cNvPr id="24" name="Text 22"/>
          <p:cNvSpPr txBox="1"/>
          <p:nvPr/>
        </p:nvSpPr>
        <p:spPr>
          <a:xfrm>
            <a:off x="7772400" y="3456432"/>
            <a:ext cx="3703320" cy="685800"/>
          </a:xfrm>
          <a:prstGeom prst="rect">
            <a:avLst/>
          </a:prstGeom>
          <a:noFill/>
          <a:ln/>
        </p:spPr>
        <p:txBody>
          <a:bodyPr wrap="square" lIns="0" tIns="0" rIns="0" bIns="0" rtlCol="0" anchor="ctr"/>
          <a:lstStyle/>
          <a:p>
            <a:pPr indent="0" marL="0">
              <a:lnSpc>
                <a:spcPct val="115000"/>
              </a:lnSpc>
              <a:buNone/>
            </a:pPr>
            <a:r>
              <a:rPr lang="en-US" sz="1050" dirty="0">
                <a:solidFill>
                  <a:srgbClr val="5B6B79"/>
                </a:solidFill>
                <a:latin typeface="Calibri" pitchFamily="34" charset="0"/>
                <a:ea typeface="Calibri" pitchFamily="34" charset="-122"/>
                <a:cs typeface="Calibri" pitchFamily="34" charset="-120"/>
              </a:rPr>
              <a:t>Descriptive stats + category-by-category KPI comparison</a:t>
            </a:r>
            <a:endParaRPr lang="en-US" sz="1050" dirty="0"/>
          </a:p>
        </p:txBody>
      </p:sp>
      <p:sp>
        <p:nvSpPr>
          <p:cNvPr id="25" name="Shape 23"/>
          <p:cNvSpPr/>
          <p:nvPr/>
        </p:nvSpPr>
        <p:spPr>
          <a:xfrm>
            <a:off x="7178040" y="4251960"/>
            <a:ext cx="457200" cy="457200"/>
          </a:xfrm>
          <a:prstGeom prst="ellipse">
            <a:avLst/>
          </a:prstGeom>
          <a:solidFill>
            <a:srgbClr val="065A82"/>
          </a:solidFill>
          <a:ln/>
        </p:spPr>
      </p:sp>
      <p:sp>
        <p:nvSpPr>
          <p:cNvPr id="26" name="Text 24"/>
          <p:cNvSpPr txBox="1"/>
          <p:nvPr/>
        </p:nvSpPr>
        <p:spPr>
          <a:xfrm>
            <a:off x="7178040" y="4251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7" name="Text 25"/>
          <p:cNvSpPr txBox="1"/>
          <p:nvPr/>
        </p:nvSpPr>
        <p:spPr>
          <a:xfrm>
            <a:off x="7772400" y="4197096"/>
            <a:ext cx="370332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Visualize</a:t>
            </a:r>
            <a:endParaRPr lang="en-US" sz="1400" dirty="0"/>
          </a:p>
        </p:txBody>
      </p:sp>
      <p:sp>
        <p:nvSpPr>
          <p:cNvPr id="28" name="Text 26"/>
          <p:cNvSpPr txBox="1"/>
          <p:nvPr/>
        </p:nvSpPr>
        <p:spPr>
          <a:xfrm>
            <a:off x="7772400" y="4507992"/>
            <a:ext cx="3703320" cy="685800"/>
          </a:xfrm>
          <a:prstGeom prst="rect">
            <a:avLst/>
          </a:prstGeom>
          <a:noFill/>
          <a:ln/>
        </p:spPr>
        <p:txBody>
          <a:bodyPr wrap="square" lIns="0" tIns="0" rIns="0" bIns="0" rtlCol="0" anchor="ctr"/>
          <a:lstStyle/>
          <a:p>
            <a:pPr indent="0" marL="0">
              <a:lnSpc>
                <a:spcPct val="115000"/>
              </a:lnSpc>
              <a:buNone/>
            </a:pPr>
            <a:r>
              <a:rPr lang="en-US" sz="1050" dirty="0">
                <a:solidFill>
                  <a:srgbClr val="5B6B79"/>
                </a:solidFill>
                <a:latin typeface="Calibri" pitchFamily="34" charset="0"/>
                <a:ea typeface="Calibri" pitchFamily="34" charset="-122"/>
                <a:cs typeface="Calibri" pitchFamily="34" charset="-120"/>
              </a:rPr>
              <a:t>Export to CSV → build a 3-page Power BI dashboard</a:t>
            </a:r>
            <a:endParaRPr lang="en-US" sz="1050" dirty="0"/>
          </a:p>
        </p:txBody>
      </p:sp>
      <p:sp>
        <p:nvSpPr>
          <p:cNvPr id="29" name="Shape 27"/>
          <p:cNvSpPr/>
          <p:nvPr/>
        </p:nvSpPr>
        <p:spPr>
          <a:xfrm>
            <a:off x="7178040" y="5303520"/>
            <a:ext cx="457200" cy="457200"/>
          </a:xfrm>
          <a:prstGeom prst="ellipse">
            <a:avLst/>
          </a:prstGeom>
          <a:solidFill>
            <a:srgbClr val="065A82"/>
          </a:solidFill>
          <a:ln/>
        </p:spPr>
      </p:sp>
      <p:sp>
        <p:nvSpPr>
          <p:cNvPr id="30" name="Text 28"/>
          <p:cNvSpPr txBox="1"/>
          <p:nvPr/>
        </p:nvSpPr>
        <p:spPr>
          <a:xfrm>
            <a:off x="7178040" y="5303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1" name="Text 29"/>
          <p:cNvSpPr txBox="1"/>
          <p:nvPr/>
        </p:nvSpPr>
        <p:spPr>
          <a:xfrm>
            <a:off x="7772400" y="5248656"/>
            <a:ext cx="370332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Report</a:t>
            </a:r>
            <a:endParaRPr lang="en-US" sz="1400" dirty="0"/>
          </a:p>
        </p:txBody>
      </p:sp>
      <p:sp>
        <p:nvSpPr>
          <p:cNvPr id="32" name="Text 30"/>
          <p:cNvSpPr txBox="1"/>
          <p:nvPr/>
        </p:nvSpPr>
        <p:spPr>
          <a:xfrm>
            <a:off x="7772400" y="5559552"/>
            <a:ext cx="3703320" cy="685800"/>
          </a:xfrm>
          <a:prstGeom prst="rect">
            <a:avLst/>
          </a:prstGeom>
          <a:noFill/>
          <a:ln/>
        </p:spPr>
        <p:txBody>
          <a:bodyPr wrap="square" lIns="0" tIns="0" rIns="0" bIns="0" rtlCol="0" anchor="ctr"/>
          <a:lstStyle/>
          <a:p>
            <a:pPr indent="0" marL="0">
              <a:lnSpc>
                <a:spcPct val="115000"/>
              </a:lnSpc>
              <a:buNone/>
            </a:pPr>
            <a:r>
              <a:rPr lang="en-US" sz="1050" dirty="0">
                <a:solidFill>
                  <a:srgbClr val="5B6B79"/>
                </a:solidFill>
                <a:latin typeface="Calibri" pitchFamily="34" charset="0"/>
                <a:ea typeface="Calibri" pitchFamily="34" charset="-122"/>
                <a:cs typeface="Calibri" pitchFamily="34" charset="-120"/>
              </a:rPr>
              <a:t>Combine workflow, EDA, and dashboard review into one deliverable</a:t>
            </a:r>
            <a:endParaRPr lang="en-US" sz="1050" dirty="0"/>
          </a:p>
        </p:txBody>
      </p:sp>
      <p:sp>
        <p:nvSpPr>
          <p:cNvPr id="33" name="Text 31"/>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34" name="Text 32"/>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3</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Dataset Overview</a:t>
            </a:r>
            <a:endParaRPr lang="en-US" sz="3000" dirty="0"/>
          </a:p>
        </p:txBody>
      </p:sp>
      <p:sp>
        <p:nvSpPr>
          <p:cNvPr id="4" name="Shape 2"/>
          <p:cNvSpPr/>
          <p:nvPr/>
        </p:nvSpPr>
        <p:spPr>
          <a:xfrm>
            <a:off x="548640" y="1554480"/>
            <a:ext cx="2651760" cy="1463040"/>
          </a:xfrm>
          <a:prstGeom prst="roundRect">
            <a:avLst>
              <a:gd name="adj" fmla="val 5000"/>
            </a:avLst>
          </a:prstGeom>
          <a:solidFill>
            <a:srgbClr val="21295C"/>
          </a:solidFill>
          <a:ln/>
        </p:spPr>
      </p:sp>
      <p:sp>
        <p:nvSpPr>
          <p:cNvPr id="5" name="Text 3"/>
          <p:cNvSpPr txBox="1"/>
          <p:nvPr/>
        </p:nvSpPr>
        <p:spPr>
          <a:xfrm>
            <a:off x="731520" y="1719072"/>
            <a:ext cx="2286000" cy="59436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200,000</a:t>
            </a:r>
            <a:endParaRPr lang="en-US" sz="3000" dirty="0"/>
          </a:p>
        </p:txBody>
      </p:sp>
      <p:sp>
        <p:nvSpPr>
          <p:cNvPr id="6" name="Text 4"/>
          <p:cNvSpPr txBox="1"/>
          <p:nvPr/>
        </p:nvSpPr>
        <p:spPr>
          <a:xfrm>
            <a:off x="731520" y="233172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Campaign records</a:t>
            </a:r>
            <a:endParaRPr lang="en-US" sz="1150" dirty="0"/>
          </a:p>
        </p:txBody>
      </p:sp>
      <p:sp>
        <p:nvSpPr>
          <p:cNvPr id="7" name="Shape 5"/>
          <p:cNvSpPr/>
          <p:nvPr/>
        </p:nvSpPr>
        <p:spPr>
          <a:xfrm>
            <a:off x="3337560" y="1554480"/>
            <a:ext cx="2651760" cy="1463040"/>
          </a:xfrm>
          <a:prstGeom prst="roundRect">
            <a:avLst>
              <a:gd name="adj" fmla="val 5000"/>
            </a:avLst>
          </a:prstGeom>
          <a:solidFill>
            <a:srgbClr val="21295C"/>
          </a:solidFill>
          <a:ln/>
        </p:spPr>
      </p:sp>
      <p:sp>
        <p:nvSpPr>
          <p:cNvPr id="8" name="Text 6"/>
          <p:cNvSpPr txBox="1"/>
          <p:nvPr/>
        </p:nvSpPr>
        <p:spPr>
          <a:xfrm>
            <a:off x="3520440" y="1719072"/>
            <a:ext cx="2286000" cy="59436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17</a:t>
            </a:r>
            <a:endParaRPr lang="en-US" sz="3000" dirty="0"/>
          </a:p>
        </p:txBody>
      </p:sp>
      <p:sp>
        <p:nvSpPr>
          <p:cNvPr id="9" name="Text 7"/>
          <p:cNvSpPr txBox="1"/>
          <p:nvPr/>
        </p:nvSpPr>
        <p:spPr>
          <a:xfrm>
            <a:off x="3520440" y="233172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Fields (16 original + CTR derived)</a:t>
            </a:r>
            <a:endParaRPr lang="en-US" sz="1150" dirty="0"/>
          </a:p>
        </p:txBody>
      </p:sp>
      <p:sp>
        <p:nvSpPr>
          <p:cNvPr id="10" name="Shape 8"/>
          <p:cNvSpPr/>
          <p:nvPr/>
        </p:nvSpPr>
        <p:spPr>
          <a:xfrm>
            <a:off x="6126480" y="1554480"/>
            <a:ext cx="2651760" cy="1463040"/>
          </a:xfrm>
          <a:prstGeom prst="roundRect">
            <a:avLst>
              <a:gd name="adj" fmla="val 5000"/>
            </a:avLst>
          </a:prstGeom>
          <a:solidFill>
            <a:srgbClr val="21295C"/>
          </a:solidFill>
          <a:ln/>
        </p:spPr>
      </p:sp>
      <p:sp>
        <p:nvSpPr>
          <p:cNvPr id="11" name="Text 9"/>
          <p:cNvSpPr txBox="1"/>
          <p:nvPr/>
        </p:nvSpPr>
        <p:spPr>
          <a:xfrm>
            <a:off x="6309360" y="1719072"/>
            <a:ext cx="2286000" cy="59436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5</a:t>
            </a:r>
            <a:endParaRPr lang="en-US" sz="3000" dirty="0"/>
          </a:p>
        </p:txBody>
      </p:sp>
      <p:sp>
        <p:nvSpPr>
          <p:cNvPr id="12" name="Text 10"/>
          <p:cNvSpPr txBox="1"/>
          <p:nvPr/>
        </p:nvSpPr>
        <p:spPr>
          <a:xfrm>
            <a:off x="6309360" y="233172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Companies</a:t>
            </a:r>
            <a:endParaRPr lang="en-US" sz="1150" dirty="0"/>
          </a:p>
        </p:txBody>
      </p:sp>
      <p:sp>
        <p:nvSpPr>
          <p:cNvPr id="13" name="Shape 11"/>
          <p:cNvSpPr/>
          <p:nvPr/>
        </p:nvSpPr>
        <p:spPr>
          <a:xfrm>
            <a:off x="8915400" y="1554480"/>
            <a:ext cx="2651760" cy="1463040"/>
          </a:xfrm>
          <a:prstGeom prst="roundRect">
            <a:avLst>
              <a:gd name="adj" fmla="val 5000"/>
            </a:avLst>
          </a:prstGeom>
          <a:solidFill>
            <a:srgbClr val="21295C"/>
          </a:solidFill>
          <a:ln/>
        </p:spPr>
      </p:sp>
      <p:sp>
        <p:nvSpPr>
          <p:cNvPr id="14" name="Text 12"/>
          <p:cNvSpPr txBox="1"/>
          <p:nvPr/>
        </p:nvSpPr>
        <p:spPr>
          <a:xfrm>
            <a:off x="9098280" y="1719072"/>
            <a:ext cx="2286000" cy="59436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5</a:t>
            </a:r>
            <a:endParaRPr lang="en-US" sz="3000" dirty="0"/>
          </a:p>
        </p:txBody>
      </p:sp>
      <p:sp>
        <p:nvSpPr>
          <p:cNvPr id="15" name="Text 13"/>
          <p:cNvSpPr txBox="1"/>
          <p:nvPr/>
        </p:nvSpPr>
        <p:spPr>
          <a:xfrm>
            <a:off x="9098280" y="233172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Campaign types</a:t>
            </a:r>
            <a:endParaRPr lang="en-US" sz="1150" dirty="0"/>
          </a:p>
        </p:txBody>
      </p:sp>
      <p:sp>
        <p:nvSpPr>
          <p:cNvPr id="16" name="Shape 14"/>
          <p:cNvSpPr/>
          <p:nvPr/>
        </p:nvSpPr>
        <p:spPr>
          <a:xfrm>
            <a:off x="548640" y="3246120"/>
            <a:ext cx="2651760" cy="1463040"/>
          </a:xfrm>
          <a:prstGeom prst="roundRect">
            <a:avLst>
              <a:gd name="adj" fmla="val 5000"/>
            </a:avLst>
          </a:prstGeom>
          <a:solidFill>
            <a:srgbClr val="F5F8FA"/>
          </a:solidFill>
          <a:ln/>
        </p:spPr>
      </p:sp>
      <p:sp>
        <p:nvSpPr>
          <p:cNvPr id="17" name="Text 15"/>
          <p:cNvSpPr txBox="1"/>
          <p:nvPr/>
        </p:nvSpPr>
        <p:spPr>
          <a:xfrm>
            <a:off x="731520" y="3410712"/>
            <a:ext cx="2286000" cy="59436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6</a:t>
            </a:r>
            <a:endParaRPr lang="en-US" sz="3000" dirty="0"/>
          </a:p>
        </p:txBody>
      </p:sp>
      <p:sp>
        <p:nvSpPr>
          <p:cNvPr id="18" name="Text 16"/>
          <p:cNvSpPr txBox="1"/>
          <p:nvPr/>
        </p:nvSpPr>
        <p:spPr>
          <a:xfrm>
            <a:off x="731520" y="402336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5B6B79"/>
                </a:solidFill>
                <a:latin typeface="Calibri" pitchFamily="34" charset="0"/>
                <a:ea typeface="Calibri" pitchFamily="34" charset="-122"/>
                <a:cs typeface="Calibri" pitchFamily="34" charset="-120"/>
              </a:rPr>
              <a:t>Marketing channels</a:t>
            </a:r>
            <a:endParaRPr lang="en-US" sz="1150" dirty="0"/>
          </a:p>
        </p:txBody>
      </p:sp>
      <p:sp>
        <p:nvSpPr>
          <p:cNvPr id="19" name="Shape 17"/>
          <p:cNvSpPr/>
          <p:nvPr/>
        </p:nvSpPr>
        <p:spPr>
          <a:xfrm>
            <a:off x="3337560" y="3246120"/>
            <a:ext cx="2651760" cy="1463040"/>
          </a:xfrm>
          <a:prstGeom prst="roundRect">
            <a:avLst>
              <a:gd name="adj" fmla="val 5000"/>
            </a:avLst>
          </a:prstGeom>
          <a:solidFill>
            <a:srgbClr val="F5F8FA"/>
          </a:solidFill>
          <a:ln/>
        </p:spPr>
      </p:sp>
      <p:sp>
        <p:nvSpPr>
          <p:cNvPr id="20" name="Text 18"/>
          <p:cNvSpPr txBox="1"/>
          <p:nvPr/>
        </p:nvSpPr>
        <p:spPr>
          <a:xfrm>
            <a:off x="3520440" y="3410712"/>
            <a:ext cx="2286000" cy="59436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5</a:t>
            </a:r>
            <a:endParaRPr lang="en-US" sz="3000" dirty="0"/>
          </a:p>
        </p:txBody>
      </p:sp>
      <p:sp>
        <p:nvSpPr>
          <p:cNvPr id="21" name="Text 19"/>
          <p:cNvSpPr txBox="1"/>
          <p:nvPr/>
        </p:nvSpPr>
        <p:spPr>
          <a:xfrm>
            <a:off x="3520440" y="402336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5B6B79"/>
                </a:solidFill>
                <a:latin typeface="Calibri" pitchFamily="34" charset="0"/>
                <a:ea typeface="Calibri" pitchFamily="34" charset="-122"/>
                <a:cs typeface="Calibri" pitchFamily="34" charset="-120"/>
              </a:rPr>
              <a:t>Customer segments</a:t>
            </a:r>
            <a:endParaRPr lang="en-US" sz="1150" dirty="0"/>
          </a:p>
        </p:txBody>
      </p:sp>
      <p:sp>
        <p:nvSpPr>
          <p:cNvPr id="22" name="Shape 20"/>
          <p:cNvSpPr/>
          <p:nvPr/>
        </p:nvSpPr>
        <p:spPr>
          <a:xfrm>
            <a:off x="6126480" y="3246120"/>
            <a:ext cx="2651760" cy="1463040"/>
          </a:xfrm>
          <a:prstGeom prst="roundRect">
            <a:avLst>
              <a:gd name="adj" fmla="val 5000"/>
            </a:avLst>
          </a:prstGeom>
          <a:solidFill>
            <a:srgbClr val="F5F8FA"/>
          </a:solidFill>
          <a:ln/>
        </p:spPr>
      </p:sp>
      <p:sp>
        <p:nvSpPr>
          <p:cNvPr id="23" name="Text 21"/>
          <p:cNvSpPr txBox="1"/>
          <p:nvPr/>
        </p:nvSpPr>
        <p:spPr>
          <a:xfrm>
            <a:off x="6309360" y="3410712"/>
            <a:ext cx="2286000" cy="59436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5</a:t>
            </a:r>
            <a:endParaRPr lang="en-US" sz="3000" dirty="0"/>
          </a:p>
        </p:txBody>
      </p:sp>
      <p:sp>
        <p:nvSpPr>
          <p:cNvPr id="24" name="Text 22"/>
          <p:cNvSpPr txBox="1"/>
          <p:nvPr/>
        </p:nvSpPr>
        <p:spPr>
          <a:xfrm>
            <a:off x="6309360" y="402336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5B6B79"/>
                </a:solidFill>
                <a:latin typeface="Calibri" pitchFamily="34" charset="0"/>
                <a:ea typeface="Calibri" pitchFamily="34" charset="-122"/>
                <a:cs typeface="Calibri" pitchFamily="34" charset="-120"/>
              </a:rPr>
              <a:t>U.S. locations</a:t>
            </a:r>
            <a:endParaRPr lang="en-US" sz="1150" dirty="0"/>
          </a:p>
        </p:txBody>
      </p:sp>
      <p:sp>
        <p:nvSpPr>
          <p:cNvPr id="25" name="Shape 23"/>
          <p:cNvSpPr/>
          <p:nvPr/>
        </p:nvSpPr>
        <p:spPr>
          <a:xfrm>
            <a:off x="8915400" y="3246120"/>
            <a:ext cx="2651760" cy="1463040"/>
          </a:xfrm>
          <a:prstGeom prst="roundRect">
            <a:avLst>
              <a:gd name="adj" fmla="val 5000"/>
            </a:avLst>
          </a:prstGeom>
          <a:solidFill>
            <a:srgbClr val="F5F8FA"/>
          </a:solidFill>
          <a:ln/>
        </p:spPr>
      </p:sp>
      <p:sp>
        <p:nvSpPr>
          <p:cNvPr id="26" name="Text 24"/>
          <p:cNvSpPr txBox="1"/>
          <p:nvPr/>
        </p:nvSpPr>
        <p:spPr>
          <a:xfrm>
            <a:off x="9098280" y="3410712"/>
            <a:ext cx="2286000" cy="594360"/>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0</a:t>
            </a:r>
            <a:endParaRPr lang="en-US" sz="3000" dirty="0"/>
          </a:p>
        </p:txBody>
      </p:sp>
      <p:sp>
        <p:nvSpPr>
          <p:cNvPr id="27" name="Text 25"/>
          <p:cNvSpPr txBox="1"/>
          <p:nvPr/>
        </p:nvSpPr>
        <p:spPr>
          <a:xfrm>
            <a:off x="9098280" y="4023360"/>
            <a:ext cx="2286000" cy="594360"/>
          </a:xfrm>
          <a:prstGeom prst="rect">
            <a:avLst/>
          </a:prstGeom>
          <a:noFill/>
          <a:ln/>
        </p:spPr>
        <p:txBody>
          <a:bodyPr wrap="square" lIns="0" tIns="0" rIns="0" bIns="0" rtlCol="0" anchor="ctr"/>
          <a:lstStyle/>
          <a:p>
            <a:pPr indent="0" marL="0">
              <a:lnSpc>
                <a:spcPct val="110000"/>
              </a:lnSpc>
              <a:buNone/>
            </a:pPr>
            <a:r>
              <a:rPr lang="en-US" sz="1150" dirty="0">
                <a:solidFill>
                  <a:srgbClr val="5B6B79"/>
                </a:solidFill>
                <a:latin typeface="Calibri" pitchFamily="34" charset="0"/>
                <a:ea typeface="Calibri" pitchFamily="34" charset="-122"/>
                <a:cs typeface="Calibri" pitchFamily="34" charset="-120"/>
              </a:rPr>
              <a:t>Missing values</a:t>
            </a:r>
            <a:endParaRPr lang="en-US" sz="1150" dirty="0"/>
          </a:p>
        </p:txBody>
      </p:sp>
      <p:sp>
        <p:nvSpPr>
          <p:cNvPr id="28" name="Text 26"/>
          <p:cNvSpPr txBox="1"/>
          <p:nvPr/>
        </p:nvSpPr>
        <p:spPr>
          <a:xfrm>
            <a:off x="548640" y="5257800"/>
            <a:ext cx="11064240" cy="822960"/>
          </a:xfrm>
          <a:prstGeom prst="rect">
            <a:avLst/>
          </a:prstGeom>
          <a:noFill/>
          <a:ln/>
        </p:spPr>
        <p:txBody>
          <a:bodyPr wrap="square" lIns="0" tIns="0" rIns="0" bIns="0" rtlCol="0" anchor="ctr"/>
          <a:lstStyle/>
          <a:p>
            <a:pPr indent="0" marL="0">
              <a:lnSpc>
                <a:spcPct val="125000"/>
              </a:lnSpc>
              <a:buNone/>
            </a:pPr>
            <a:r>
              <a:rPr lang="en-US" sz="1200" i="1" dirty="0">
                <a:solidFill>
                  <a:srgbClr val="5B6B79"/>
                </a:solidFill>
                <a:latin typeface="Calibri" pitchFamily="34" charset="0"/>
                <a:ea typeface="Calibri" pitchFamily="34" charset="-122"/>
                <a:cs typeface="Calibri" pitchFamily="34" charset="-120"/>
              </a:rPr>
              <a:t>Dataset spans Jan 1 – Dec 31, 2021 (~16,000–17,000 campaigns/month). All categorical dimensions are evenly balanced (~20% each), and CTR was verified as a deterministic function of Clicks ÷ Impressions × 100 across every row — consistent with a clean, likely synthetically generated dataset.</a:t>
            </a:r>
            <a:endParaRPr lang="en-US" sz="1200" dirty="0"/>
          </a:p>
        </p:txBody>
      </p:sp>
      <p:sp>
        <p:nvSpPr>
          <p:cNvPr id="29" name="Text 27"/>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30" name="Text 2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5.1</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Summary Statistics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680960" cy="3566160"/>
        </p:xfrm>
        <a:graphic>
          <a:graphicData uri="http://schemas.openxmlformats.org/drawingml/2006/table">
            <a:tbl>
              <a:tblPr/>
              <a:tblGrid>
                <a:gridCol w="2011680"/>
                <a:gridCol w="1133856"/>
                <a:gridCol w="1133856"/>
                <a:gridCol w="1133856"/>
                <a:gridCol w="1133856"/>
                <a:gridCol w="1133856"/>
              </a:tblGrid>
              <a:tr h="44577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Mean</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Median</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Std Dev</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Min</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Max</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Conversion Rate</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0.080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0.041</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0.01</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Acquisition Cost ($)</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12,504</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12,497</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4,338</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5,000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20,000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ROI (x)</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5.01</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1.73</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8.00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Clicks</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550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550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Impressions</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5,507</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5,518</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2,598</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Engagement Score</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5.49</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2.87</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r>
              <a:tr h="445770">
                <a:tc>
                  <a:txBody>
                    <a:bodyPr/>
                    <a:lstStyle/>
                    <a:p>
                      <a:pPr algn="l" indent="0" marL="0">
                        <a:buNone/>
                      </a:pPr>
                      <a:r>
                        <a:rPr lang="en-US" sz="1200" b="1" dirty="0">
                          <a:solidFill>
                            <a:srgbClr val="21295C"/>
                          </a:solidFill>
                          <a:latin typeface="Calibri" pitchFamily="34" charset="0"/>
                          <a:ea typeface="Calibri" pitchFamily="34" charset="-122"/>
                          <a:cs typeface="Calibri" pitchFamily="34" charset="-120"/>
                        </a:rPr>
                        <a:t>CTR (%)</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14.04</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9.98</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13.09</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1295C"/>
                          </a:solidFill>
                          <a:latin typeface="Calibri" pitchFamily="34" charset="0"/>
                          <a:ea typeface="Calibri" pitchFamily="34" charset="-122"/>
                          <a:cs typeface="Calibri" pitchFamily="34" charset="-120"/>
                        </a:rPr>
                        <a:t>99.20</a:t>
                      </a:r>
                      <a:endParaRPr lang="en-US" sz="12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193792"/>
            <a:ext cx="4572000" cy="320040"/>
          </a:xfrm>
          <a:prstGeom prst="rect">
            <a:avLst/>
          </a:prstGeom>
          <a:noFill/>
          <a:ln/>
        </p:spPr>
        <p:txBody>
          <a:bodyPr wrap="square" lIns="0" tIns="0" rIns="0" bIns="0" rtlCol="0" anchor="ctr"/>
          <a:lstStyle/>
          <a:p>
            <a:pPr indent="0" marL="0">
              <a:buNone/>
            </a:pPr>
            <a:r>
              <a:rPr lang="en-US" sz="1050" i="1" dirty="0">
                <a:solidFill>
                  <a:srgbClr val="5B6B79"/>
                </a:solidFill>
                <a:latin typeface="Calibri" pitchFamily="34" charset="0"/>
                <a:ea typeface="Calibri" pitchFamily="34" charset="-122"/>
                <a:cs typeface="Calibri" pitchFamily="34" charset="-120"/>
              </a:rPr>
              <a:t>n = 200,000 campaigns</a:t>
            </a:r>
            <a:endParaRPr lang="en-US" sz="1050" dirty="0"/>
          </a:p>
        </p:txBody>
      </p:sp>
      <p:sp>
        <p:nvSpPr>
          <p:cNvPr id="6" name="Shape 3"/>
          <p:cNvSpPr/>
          <p:nvPr/>
        </p:nvSpPr>
        <p:spPr>
          <a:xfrm>
            <a:off x="8503920" y="1554480"/>
            <a:ext cx="3154680" cy="3566160"/>
          </a:xfrm>
          <a:prstGeom prst="roundRect">
            <a:avLst>
              <a:gd name="adj" fmla="val 2319"/>
            </a:avLst>
          </a:prstGeom>
          <a:solidFill>
            <a:srgbClr val="F5F8FA"/>
          </a:solidFill>
          <a:ln/>
        </p:spPr>
      </p:sp>
      <p:sp>
        <p:nvSpPr>
          <p:cNvPr id="7" name="Text 4"/>
          <p:cNvSpPr txBox="1"/>
          <p:nvPr/>
        </p:nvSpPr>
        <p:spPr>
          <a:xfrm>
            <a:off x="8732520" y="1737360"/>
            <a:ext cx="2743200" cy="320040"/>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READING THE NUMBERS</a:t>
            </a:r>
            <a:endParaRPr lang="en-US" sz="1150" dirty="0"/>
          </a:p>
        </p:txBody>
      </p:sp>
      <p:sp>
        <p:nvSpPr>
          <p:cNvPr id="8" name="Text 5"/>
          <p:cNvSpPr txBox="1"/>
          <p:nvPr/>
        </p:nvSpPr>
        <p:spPr>
          <a:xfrm>
            <a:off x="8732520" y="2103120"/>
            <a:ext cx="2697480" cy="2834640"/>
          </a:xfrm>
          <a:prstGeom prst="rect">
            <a:avLst/>
          </a:prstGeom>
          <a:noFill/>
          <a:ln/>
        </p:spPr>
        <p:txBody>
          <a:bodyPr wrap="square" lIns="0" tIns="0" rIns="0" bIns="0" rtlCol="0" anchor="ctr"/>
          <a:lstStyle/>
          <a:p>
            <a:pPr indent="0" marL="0">
              <a:lnSpc>
                <a:spcPct val="130000"/>
              </a:lnSpc>
              <a:buNone/>
            </a:pPr>
            <a:r>
              <a:rPr lang="en-US" sz="1150" dirty="0">
                <a:solidFill>
                  <a:srgbClr val="21295C"/>
                </a:solidFill>
                <a:latin typeface="Calibri" pitchFamily="34" charset="0"/>
                <a:ea typeface="Calibri" pitchFamily="34" charset="-122"/>
                <a:cs typeface="Calibri" pitchFamily="34" charset="-120"/>
              </a:rPr>
              <a:t>Conversion Rate, Acquisition Cost, and ROI sit close to their midpoints with wide, even spread — typical of uniformly generated values.</a:t>
            </a:r>
            <a:endParaRPr lang="en-US" sz="1150" dirty="0"/>
          </a:p>
          <a:p>
            <a:pPr indent="0" marL="0">
              <a:lnSpc>
                <a:spcPct val="130000"/>
              </a:lnSpc>
              <a:buNone/>
            </a:pPr>
            <a:endParaRPr lang="en-US" sz="1150" dirty="0"/>
          </a:p>
          <a:p>
            <a:pPr indent="0" marL="0">
              <a:lnSpc>
                <a:spcPct val="130000"/>
              </a:lnSpc>
              <a:buNone/>
            </a:pPr>
            <a:r>
              <a:rPr lang="en-US" sz="1150" dirty="0">
                <a:solidFill>
                  <a:srgbClr val="21295C"/>
                </a:solidFill>
                <a:latin typeface="Calibri" pitchFamily="34" charset="0"/>
                <a:ea typeface="Calibri" pitchFamily="34" charset="-122"/>
                <a:cs typeface="Calibri" pitchFamily="34" charset="-120"/>
              </a:rPr>
              <a:t>CTR is the exception: right-skewed, because it's mechanically derived from Clicks ÷ Impressions.</a:t>
            </a:r>
            <a:endParaRPr lang="en-US" sz="1150" dirty="0"/>
          </a:p>
        </p:txBody>
      </p:sp>
      <p:sp>
        <p:nvSpPr>
          <p:cNvPr id="9" name="Text 6"/>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10" name="Text 7"/>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5.2</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Distribution of Key Metrics</a:t>
            </a:r>
            <a:endParaRPr lang="en-US" sz="3000" dirty="0"/>
          </a:p>
        </p:txBody>
      </p:sp>
      <p:pic>
        <p:nvPicPr>
          <p:cNvPr id="4" name="Image 0" descr="/home/claude/images/e0543ad88743bef14af922422ee98353171b6a34.png">    </p:cNvPr>
          <p:cNvPicPr>
            <a:picLocks noChangeAspect="1"/>
          </p:cNvPicPr>
          <p:nvPr/>
        </p:nvPicPr>
        <p:blipFill>
          <a:blip r:embed="rId1"/>
          <a:srcRect l="0" r="0" t="0" b="0"/>
          <a:stretch/>
        </p:blipFill>
        <p:spPr>
          <a:xfrm>
            <a:off x="6309360" y="1417320"/>
            <a:ext cx="5486400" cy="3931920"/>
          </a:xfrm>
          <a:prstGeom prst="rect">
            <a:avLst/>
          </a:prstGeom>
        </p:spPr>
      </p:pic>
      <p:sp>
        <p:nvSpPr>
          <p:cNvPr id="5" name="Text 2"/>
          <p:cNvSpPr txBox="1"/>
          <p:nvPr/>
        </p:nvSpPr>
        <p:spPr>
          <a:xfrm>
            <a:off x="548640" y="1600200"/>
            <a:ext cx="5394960" cy="1828800"/>
          </a:xfrm>
          <a:prstGeom prst="rect">
            <a:avLst/>
          </a:prstGeom>
          <a:noFill/>
          <a:ln/>
        </p:spPr>
        <p:txBody>
          <a:bodyPr wrap="square" lIns="0" tIns="0" rIns="0" bIns="0" rtlCol="0" anchor="ctr"/>
          <a:lstStyle/>
          <a:p>
            <a:pPr indent="0" marL="0">
              <a:lnSpc>
                <a:spcPct val="130000"/>
              </a:lnSpc>
              <a:buNone/>
            </a:pPr>
            <a:r>
              <a:rPr lang="en-US" sz="1350" dirty="0">
                <a:solidFill>
                  <a:srgbClr val="21295C"/>
                </a:solidFill>
                <a:latin typeface="Calibri" pitchFamily="34" charset="0"/>
                <a:ea typeface="Calibri" pitchFamily="34" charset="-122"/>
                <a:cs typeface="Calibri" pitchFamily="34" charset="-120"/>
              </a:rPr>
              <a:t>Conversion Rate, Acquisition Cost, and ROI are all close to uniformly distributed across their ranges — every value between min and max is roughly equally likely, a strong signature of randomly generated rather than organically observed data.</a:t>
            </a:r>
            <a:endParaRPr lang="en-US" sz="1350" dirty="0"/>
          </a:p>
        </p:txBody>
      </p:sp>
      <p:sp>
        <p:nvSpPr>
          <p:cNvPr id="6" name="Text 3"/>
          <p:cNvSpPr txBox="1"/>
          <p:nvPr/>
        </p:nvSpPr>
        <p:spPr>
          <a:xfrm>
            <a:off x="548640" y="3657600"/>
            <a:ext cx="5394960" cy="1554480"/>
          </a:xfrm>
          <a:prstGeom prst="rect">
            <a:avLst/>
          </a:prstGeom>
          <a:noFill/>
          <a:ln/>
        </p:spPr>
        <p:txBody>
          <a:bodyPr wrap="square" lIns="0" tIns="0" rIns="0" bIns="0" rtlCol="0" anchor="ctr"/>
          <a:lstStyle/>
          <a:p>
            <a:pPr indent="0" marL="0">
              <a:lnSpc>
                <a:spcPct val="130000"/>
              </a:lnSpc>
              <a:buNone/>
            </a:pPr>
            <a:r>
              <a:rPr lang="en-US" sz="1350" dirty="0">
                <a:solidFill>
                  <a:srgbClr val="21295C"/>
                </a:solidFill>
                <a:latin typeface="Calibri" pitchFamily="34" charset="0"/>
                <a:ea typeface="Calibri" pitchFamily="34" charset="-122"/>
                <a:cs typeface="Calibri" pitchFamily="34" charset="-120"/>
              </a:rPr>
              <a:t>CTR, by contrast, is right-skewed: most campaigns cluster at lower CTR values (5–15%), with a long tail where a small number of impressions produced a disproportionate share of clicks.</a:t>
            </a:r>
            <a:endParaRPr lang="en-US" sz="1350" dirty="0"/>
          </a:p>
        </p:txBody>
      </p:sp>
      <p:sp>
        <p:nvSpPr>
          <p:cNvPr id="7" name="Text 4"/>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8" name="Text 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SECTIONS 5.3 – 5.4</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Performance by Type &amp; Channel</a:t>
            </a:r>
            <a:endParaRPr lang="en-US" sz="3000" dirty="0"/>
          </a:p>
        </p:txBody>
      </p:sp>
      <p:pic>
        <p:nvPicPr>
          <p:cNvPr id="4" name="Image 0" descr="/home/claude/images/05a2bc1a7b1b0ff1e1bf90d0b28125281995a1b9.png">    </p:cNvPr>
          <p:cNvPicPr>
            <a:picLocks noChangeAspect="1"/>
          </p:cNvPicPr>
          <p:nvPr/>
        </p:nvPicPr>
        <p:blipFill>
          <a:blip r:embed="rId1"/>
          <a:srcRect l="0" r="0" t="0" b="0"/>
          <a:stretch/>
        </p:blipFill>
        <p:spPr>
          <a:xfrm>
            <a:off x="457200" y="1463040"/>
            <a:ext cx="5486400" cy="3291840"/>
          </a:xfrm>
          <a:prstGeom prst="rect">
            <a:avLst/>
          </a:prstGeom>
        </p:spPr>
      </p:pic>
      <p:pic>
        <p:nvPicPr>
          <p:cNvPr id="5" name="Image 1" descr="/home/claude/images/d58fcac6f4c5f5a6a8f0d9df649b34d876cf0582.png">    </p:cNvPr>
          <p:cNvPicPr>
            <a:picLocks noChangeAspect="1"/>
          </p:cNvPicPr>
          <p:nvPr/>
        </p:nvPicPr>
        <p:blipFill>
          <a:blip r:embed="rId2"/>
          <a:srcRect l="0" r="0" t="0" b="0"/>
          <a:stretch/>
        </p:blipFill>
        <p:spPr>
          <a:xfrm>
            <a:off x="6172200" y="1463040"/>
            <a:ext cx="5486400" cy="3291840"/>
          </a:xfrm>
          <a:prstGeom prst="rect">
            <a:avLst/>
          </a:prstGeom>
        </p:spPr>
      </p:pic>
      <p:sp>
        <p:nvSpPr>
          <p:cNvPr id="6" name="Shape 2"/>
          <p:cNvSpPr/>
          <p:nvPr/>
        </p:nvSpPr>
        <p:spPr>
          <a:xfrm>
            <a:off x="457200" y="4892040"/>
            <a:ext cx="11247120" cy="1051560"/>
          </a:xfrm>
          <a:prstGeom prst="roundRect">
            <a:avLst>
              <a:gd name="adj" fmla="val 6957"/>
            </a:avLst>
          </a:prstGeom>
          <a:solidFill>
            <a:srgbClr val="21295C"/>
          </a:solidFill>
          <a:ln/>
        </p:spPr>
      </p:sp>
      <p:sp>
        <p:nvSpPr>
          <p:cNvPr id="7" name="Text 3"/>
          <p:cNvSpPr txBox="1"/>
          <p:nvPr/>
        </p:nvSpPr>
        <p:spPr>
          <a:xfrm>
            <a:off x="731520" y="5029200"/>
            <a:ext cx="10698480"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Influencer campaigns rank numerically highest (5.011x ROI) and Email lowest (4.992x) — </a:t>
            </a:r>
            <a:pPr indent="0" marL="0">
              <a:lnSpc>
                <a:spcPct val="125000"/>
              </a:lnSpc>
              <a:buNone/>
            </a:pPr>
            <a:r>
              <a:rPr lang="en-US" sz="1250" b="1" dirty="0">
                <a:solidFill>
                  <a:srgbClr val="F2A541"/>
                </a:solidFill>
                <a:latin typeface="Calibri" pitchFamily="34" charset="0"/>
                <a:ea typeface="Calibri" pitchFamily="34" charset="-122"/>
                <a:cs typeface="Calibri" pitchFamily="34" charset="-120"/>
              </a:rPr>
              <a:t>a gap under 0.4%. </a:t>
            </a:r>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Facebook edges out other channels (5.019x) while YouTube/Instagram trail slightly (~4.99x) — </a:t>
            </a:r>
            <a:pPr indent="0" marL="0">
              <a:lnSpc>
                <a:spcPct val="125000"/>
              </a:lnSpc>
              <a:buNone/>
            </a:pPr>
            <a:r>
              <a:rPr lang="en-US" sz="1250" b="1" dirty="0">
                <a:solidFill>
                  <a:srgbClr val="F2A541"/>
                </a:solidFill>
                <a:latin typeface="Calibri" pitchFamily="34" charset="0"/>
                <a:ea typeface="Calibri" pitchFamily="34" charset="-122"/>
                <a:cs typeface="Calibri" pitchFamily="34" charset="-120"/>
              </a:rPr>
              <a:t>a spread under 0.7%.</a:t>
            </a:r>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 Both gaps are too small to reflect a real performance difference.</a:t>
            </a:r>
            <a:endParaRPr lang="en-US" sz="1250" dirty="0"/>
          </a:p>
        </p:txBody>
      </p:sp>
      <p:sp>
        <p:nvSpPr>
          <p:cNvPr id="8" name="Text 4"/>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9" name="Text 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6</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Category Comparison Summary</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2194560"/>
        </p:xfrm>
        <a:graphic>
          <a:graphicData uri="http://schemas.openxmlformats.org/drawingml/2006/table">
            <a:tbl>
              <a:tblPr/>
              <a:tblGrid>
                <a:gridCol w="2743200"/>
                <a:gridCol w="2926080"/>
                <a:gridCol w="3108960"/>
                <a:gridCol w="2286000"/>
              </a:tblGrid>
              <a:tr h="438912">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Grouping Variable</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Outcome</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Range of Group Averages</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Spread</a:t>
                      </a:r>
                      <a:endParaRPr lang="en-US" sz="125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21295C"/>
                    </a:solidFill>
                  </a:tcPr>
                </a:tc>
              </a:tr>
              <a:tr h="438912">
                <a:tc>
                  <a:txBody>
                    <a:bodyPr/>
                    <a:lstStyle/>
                    <a:p>
                      <a:pPr algn="l" indent="0" marL="0">
                        <a:buNone/>
                      </a:pPr>
                      <a:r>
                        <a:rPr lang="en-US" sz="1300" b="1" dirty="0">
                          <a:solidFill>
                            <a:srgbClr val="21295C"/>
                          </a:solidFill>
                          <a:latin typeface="Calibri" pitchFamily="34" charset="0"/>
                          <a:ea typeface="Calibri" pitchFamily="34" charset="-122"/>
                          <a:cs typeface="Calibri" pitchFamily="34" charset="-120"/>
                        </a:rPr>
                        <a:t>Campaign Type</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Average ROI</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4.992x – 5.011x</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&lt; 0.4%</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1295C"/>
                          </a:solidFill>
                          <a:latin typeface="Calibri" pitchFamily="34" charset="0"/>
                          <a:ea typeface="Calibri" pitchFamily="34" charset="-122"/>
                          <a:cs typeface="Calibri" pitchFamily="34" charset="-120"/>
                        </a:rPr>
                        <a:t>Channel Used</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Average ROI</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4.989x – 5.019x</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&lt; 0.7%</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r>
              <a:tr h="438912">
                <a:tc>
                  <a:txBody>
                    <a:bodyPr/>
                    <a:lstStyle/>
                    <a:p>
                      <a:pPr algn="l" indent="0" marL="0">
                        <a:buNone/>
                      </a:pPr>
                      <a:r>
                        <a:rPr lang="en-US" sz="1300" b="1" dirty="0">
                          <a:solidFill>
                            <a:srgbClr val="21295C"/>
                          </a:solidFill>
                          <a:latin typeface="Calibri" pitchFamily="34" charset="0"/>
                          <a:ea typeface="Calibri" pitchFamily="34" charset="-122"/>
                          <a:cs typeface="Calibri" pitchFamily="34" charset="-120"/>
                        </a:rPr>
                        <a:t>Customer Segment</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Average Conversion Rate</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0.0798 – 0.0803</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 0.6%</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1295C"/>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Campaign Volume Share</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300" dirty="0">
                          <a:solidFill>
                            <a:srgbClr val="21295C"/>
                          </a:solidFill>
                          <a:latin typeface="Calibri" pitchFamily="34" charset="0"/>
                          <a:ea typeface="Calibri" pitchFamily="34" charset="-122"/>
                          <a:cs typeface="Calibri" pitchFamily="34" charset="-120"/>
                        </a:rPr>
                        <a:t>19.9% – 20.1%</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c>
                  <a:txBody>
                    <a:bodyPr/>
                    <a:lstStyle/>
                    <a:p>
                      <a:pPr algn="ctr" indent="0" marL="0">
                        <a:buNone/>
                      </a:pPr>
                      <a:r>
                        <a:rPr lang="en-US" sz="1300" b="1" dirty="0">
                          <a:solidFill>
                            <a:srgbClr val="065A82"/>
                          </a:solidFill>
                          <a:latin typeface="Calibri" pitchFamily="34" charset="0"/>
                          <a:ea typeface="Calibri" pitchFamily="34" charset="-122"/>
                          <a:cs typeface="Calibri" pitchFamily="34" charset="-120"/>
                        </a:rPr>
                        <a:t>&lt; 1%</a:t>
                      </a:r>
                      <a:endParaRPr lang="en-US" sz="1300" dirty="0">
                        <a:latin typeface="Calibri" charset="0"/>
                        <a:ea typeface="Calibri" charset="0"/>
                        <a:cs typeface="Calibri" charset="0"/>
                      </a:endParaRPr>
                    </a:p>
                  </a:txBody>
                  <a:tcPr marL="91440" marR="91440" marT="45720" marB="45720" anchor="ctr">
                    <a:lnL w="9525" cap="flat" cmpd="sng" algn="ctr">
                      <a:solidFill>
                        <a:srgbClr val="E3E9ED"/>
                      </a:solidFill>
                      <a:prstDash val="solid"/>
                      <a:round/>
                      <a:headEnd type="none" w="med" len="med"/>
                      <a:tailEnd type="none" w="med" len="med"/>
                    </a:lnL>
                    <a:lnR w="9525" cap="flat" cmpd="sng" algn="ctr">
                      <a:solidFill>
                        <a:srgbClr val="E3E9ED"/>
                      </a:solidFill>
                      <a:prstDash val="solid"/>
                      <a:round/>
                      <a:headEnd type="none" w="med" len="med"/>
                      <a:tailEnd type="none" w="med" len="med"/>
                    </a:lnR>
                    <a:lnT w="9525" cap="flat" cmpd="sng" algn="ctr">
                      <a:solidFill>
                        <a:srgbClr val="E3E9ED"/>
                      </a:solidFill>
                      <a:prstDash val="solid"/>
                      <a:round/>
                      <a:headEnd type="none" w="med" len="med"/>
                      <a:tailEnd type="none" w="med" len="med"/>
                    </a:lnT>
                    <a:lnB w="9525" cap="flat" cmpd="sng" algn="ctr">
                      <a:solidFill>
                        <a:srgbClr val="E3E9ED"/>
                      </a:solidFill>
                      <a:prstDash val="solid"/>
                      <a:round/>
                      <a:headEnd type="none" w="med" len="med"/>
                      <a:tailEnd type="none" w="med" len="med"/>
                    </a:lnB>
                    <a:solidFill>
                      <a:srgbClr val="F5F8FA"/>
                    </a:solidFill>
                  </a:tcPr>
                </a:tc>
              </a:tr>
            </a:tbl>
          </a:graphicData>
        </a:graphic>
      </p:graphicFrame>
      <p:sp>
        <p:nvSpPr>
          <p:cNvPr id="5" name="Shape 2"/>
          <p:cNvSpPr/>
          <p:nvPr/>
        </p:nvSpPr>
        <p:spPr>
          <a:xfrm>
            <a:off x="548640" y="4023360"/>
            <a:ext cx="11064240" cy="1920240"/>
          </a:xfrm>
          <a:prstGeom prst="roundRect">
            <a:avLst>
              <a:gd name="adj" fmla="val 3810"/>
            </a:avLst>
          </a:prstGeom>
          <a:solidFill>
            <a:srgbClr val="F5F8FA"/>
          </a:solidFill>
          <a:ln/>
        </p:spPr>
      </p:sp>
      <p:sp>
        <p:nvSpPr>
          <p:cNvPr id="6" name="Text 3"/>
          <p:cNvSpPr txBox="1"/>
          <p:nvPr/>
        </p:nvSpPr>
        <p:spPr>
          <a:xfrm>
            <a:off x="822960" y="4206240"/>
            <a:ext cx="10515600" cy="1645920"/>
          </a:xfrm>
          <a:prstGeom prst="rect">
            <a:avLst/>
          </a:prstGeom>
          <a:noFill/>
          <a:ln/>
        </p:spPr>
        <p:txBody>
          <a:bodyPr wrap="square" lIns="0" tIns="0" rIns="0" bIns="0" rtlCol="0" anchor="ctr"/>
          <a:lstStyle/>
          <a:p>
            <a:pPr indent="0" marL="0">
              <a:lnSpc>
                <a:spcPct val="130000"/>
              </a:lnSpc>
              <a:buNone/>
            </a:pPr>
            <a:r>
              <a:rPr lang="en-US" sz="1300" dirty="0">
                <a:solidFill>
                  <a:srgbClr val="21295C"/>
                </a:solidFill>
                <a:latin typeface="Calibri" pitchFamily="34" charset="0"/>
                <a:ea typeface="Calibri" pitchFamily="34" charset="-122"/>
                <a:cs typeface="Calibri" pitchFamily="34" charset="-120"/>
              </a:rPr>
              <a:t>In every comparison, the spread between the highest and lowest group average is well under 1% — far smaller than the natural spread of the underlying data (Conversion Rate: 0.01–0.15; ROI: 2.0x–8.0x). It would be a mistake to read the Section 5 bar charts as actionable business insight: these differences most likely reflect normal variation, not a real performance gap. The clearer, evidence-backed pattern is the direct mathematical relationship between Clicks, Impressions, and CTR.</a:t>
            </a:r>
            <a:endParaRPr lang="en-US" sz="1300" dirty="0"/>
          </a:p>
        </p:txBody>
      </p:sp>
      <p:sp>
        <p:nvSpPr>
          <p:cNvPr id="7" name="Text 4"/>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8" name="Text 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5.7</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One Real Relationship: CTR</a:t>
            </a:r>
            <a:endParaRPr lang="en-US" sz="3000" dirty="0"/>
          </a:p>
        </p:txBody>
      </p:sp>
      <p:pic>
        <p:nvPicPr>
          <p:cNvPr id="4" name="Image 0" descr="/home/claude/images/f0d017ac0515eb22c46a68e5daaea6efd3391801.png">    </p:cNvPr>
          <p:cNvPicPr>
            <a:picLocks noChangeAspect="1"/>
          </p:cNvPicPr>
          <p:nvPr/>
        </p:nvPicPr>
        <p:blipFill>
          <a:blip r:embed="rId1"/>
          <a:srcRect l="0" r="0" t="0" b="0"/>
          <a:stretch/>
        </p:blipFill>
        <p:spPr>
          <a:xfrm>
            <a:off x="6675120" y="1371600"/>
            <a:ext cx="4937760" cy="4206240"/>
          </a:xfrm>
          <a:prstGeom prst="rect">
            <a:avLst/>
          </a:prstGeom>
        </p:spPr>
      </p:pic>
      <p:sp>
        <p:nvSpPr>
          <p:cNvPr id="5" name="Text 2"/>
          <p:cNvSpPr txBox="1"/>
          <p:nvPr/>
        </p:nvSpPr>
        <p:spPr>
          <a:xfrm>
            <a:off x="548640" y="1645920"/>
            <a:ext cx="5760720" cy="1645920"/>
          </a:xfrm>
          <a:prstGeom prst="rect">
            <a:avLst/>
          </a:prstGeom>
          <a:noFill/>
          <a:ln/>
        </p:spPr>
        <p:txBody>
          <a:bodyPr wrap="square" lIns="0" tIns="0" rIns="0" bIns="0" rtlCol="0" anchor="ctr"/>
          <a:lstStyle/>
          <a:p>
            <a:pPr indent="0" marL="0">
              <a:lnSpc>
                <a:spcPct val="130000"/>
              </a:lnSpc>
              <a:buNone/>
            </a:pPr>
            <a:r>
              <a:rPr lang="en-US" sz="1400" dirty="0">
                <a:solidFill>
                  <a:srgbClr val="21295C"/>
                </a:solidFill>
                <a:latin typeface="Calibri" pitchFamily="34" charset="0"/>
                <a:ea typeface="Calibri" pitchFamily="34" charset="-122"/>
                <a:cs typeface="Calibri" pitchFamily="34" charset="-120"/>
              </a:rPr>
              <a:t>Across the seven numeric KPIs, only one clear relationship emerges: CTR rises with Clicks and falls with Impressions — which follows directly from its formula, CTR = Clicks ÷ Impressions × 100.</a:t>
            </a:r>
            <a:endParaRPr lang="en-US" sz="1400" dirty="0"/>
          </a:p>
        </p:txBody>
      </p:sp>
      <p:sp>
        <p:nvSpPr>
          <p:cNvPr id="6" name="Text 3"/>
          <p:cNvSpPr txBox="1"/>
          <p:nvPr/>
        </p:nvSpPr>
        <p:spPr>
          <a:xfrm>
            <a:off x="548640" y="3383280"/>
            <a:ext cx="5760720" cy="1645920"/>
          </a:xfrm>
          <a:prstGeom prst="rect">
            <a:avLst/>
          </a:prstGeom>
          <a:noFill/>
          <a:ln/>
        </p:spPr>
        <p:txBody>
          <a:bodyPr wrap="square" lIns="0" tIns="0" rIns="0" bIns="0" rtlCol="0" anchor="ctr"/>
          <a:lstStyle/>
          <a:p>
            <a:pPr indent="0" marL="0">
              <a:lnSpc>
                <a:spcPct val="130000"/>
              </a:lnSpc>
              <a:buNone/>
            </a:pPr>
            <a:r>
              <a:rPr lang="en-US" sz="1400" dirty="0">
                <a:solidFill>
                  <a:srgbClr val="21295C"/>
                </a:solidFill>
                <a:latin typeface="Calibri" pitchFamily="34" charset="0"/>
                <a:ea typeface="Calibri" pitchFamily="34" charset="-122"/>
                <a:cs typeface="Calibri" pitchFamily="34" charset="-120"/>
              </a:rPr>
              <a:t>None of the other KPI pairs — including ROI with Acquisition Cost, or Conversion Rate with ROI — show a noticeable relationship, suggesting these variables move independently of one another in this dataset.</a:t>
            </a:r>
            <a:endParaRPr lang="en-US" sz="1400" dirty="0"/>
          </a:p>
        </p:txBody>
      </p:sp>
      <p:sp>
        <p:nvSpPr>
          <p:cNvPr id="7" name="Text 4"/>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8" name="Text 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7</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Power BI Dashboard Overview</a:t>
            </a:r>
            <a:endParaRPr lang="en-US" sz="3000" dirty="0"/>
          </a:p>
        </p:txBody>
      </p:sp>
      <p:sp>
        <p:nvSpPr>
          <p:cNvPr id="4" name="Shape 2"/>
          <p:cNvSpPr/>
          <p:nvPr/>
        </p:nvSpPr>
        <p:spPr>
          <a:xfrm>
            <a:off x="548640" y="1463040"/>
            <a:ext cx="3611880" cy="2880360"/>
          </a:xfrm>
          <a:prstGeom prst="roundRect">
            <a:avLst>
              <a:gd name="adj" fmla="val 1905"/>
            </a:avLst>
          </a:prstGeom>
          <a:solidFill>
            <a:srgbClr val="F5F8FA"/>
          </a:solidFill>
          <a:ln w="9525">
            <a:solidFill>
              <a:srgbClr val="E3E9ED"/>
            </a:solidFill>
            <a:prstDash val="solid"/>
          </a:ln>
        </p:spPr>
      </p:sp>
      <p:pic>
        <p:nvPicPr>
          <p:cNvPr id="5" name="Image 0" descr="/home/claude/images/35087544df82283d25a0a05b2f246804c5327cc7.png">    </p:cNvPr>
          <p:cNvPicPr>
            <a:picLocks noChangeAspect="1"/>
          </p:cNvPicPr>
          <p:nvPr/>
        </p:nvPicPr>
        <p:blipFill>
          <a:blip r:embed="rId1"/>
          <a:srcRect l="0" r="0" t="0" b="0"/>
          <a:stretch/>
        </p:blipFill>
        <p:spPr>
          <a:xfrm>
            <a:off x="658368" y="1572768"/>
            <a:ext cx="3392424" cy="1920240"/>
          </a:xfrm>
          <a:prstGeom prst="rect">
            <a:avLst/>
          </a:prstGeom>
        </p:spPr>
      </p:pic>
      <p:sp>
        <p:nvSpPr>
          <p:cNvPr id="6" name="Text 3"/>
          <p:cNvSpPr txBox="1"/>
          <p:nvPr/>
        </p:nvSpPr>
        <p:spPr>
          <a:xfrm>
            <a:off x="685800" y="3566160"/>
            <a:ext cx="3337560" cy="36576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Page 1 — Marketing Overview</a:t>
            </a:r>
            <a:endParaRPr lang="en-US" sz="1300" dirty="0"/>
          </a:p>
        </p:txBody>
      </p:sp>
      <p:sp>
        <p:nvSpPr>
          <p:cNvPr id="7" name="Text 4"/>
          <p:cNvSpPr txBox="1"/>
          <p:nvPr/>
        </p:nvSpPr>
        <p:spPr>
          <a:xfrm>
            <a:off x="685800" y="3913632"/>
            <a:ext cx="3337560" cy="457200"/>
          </a:xfrm>
          <a:prstGeom prst="rect">
            <a:avLst/>
          </a:prstGeom>
          <a:noFill/>
          <a:ln/>
        </p:spPr>
        <p:txBody>
          <a:bodyPr wrap="square" lIns="0" tIns="0" rIns="0" bIns="0" rtlCol="0" anchor="ctr"/>
          <a:lstStyle/>
          <a:p>
            <a:pPr indent="0" marL="0">
              <a:lnSpc>
                <a:spcPct val="110000"/>
              </a:lnSpc>
              <a:buNone/>
            </a:pPr>
            <a:r>
              <a:rPr lang="en-US" sz="950" dirty="0">
                <a:solidFill>
                  <a:srgbClr val="5B6B79"/>
                </a:solidFill>
                <a:latin typeface="Calibri" pitchFamily="34" charset="0"/>
                <a:ea typeface="Calibri" pitchFamily="34" charset="-122"/>
                <a:cs typeface="Calibri" pitchFamily="34" charset="-120"/>
              </a:rPr>
              <a:t>Headline KPI cards, ROI by channel, conversion by type, full-year ROI trend</a:t>
            </a:r>
            <a:endParaRPr lang="en-US" sz="950" dirty="0"/>
          </a:p>
        </p:txBody>
      </p:sp>
      <p:sp>
        <p:nvSpPr>
          <p:cNvPr id="8" name="Shape 5"/>
          <p:cNvSpPr/>
          <p:nvPr/>
        </p:nvSpPr>
        <p:spPr>
          <a:xfrm>
            <a:off x="4343400" y="1463040"/>
            <a:ext cx="3611880" cy="2880360"/>
          </a:xfrm>
          <a:prstGeom prst="roundRect">
            <a:avLst>
              <a:gd name="adj" fmla="val 1905"/>
            </a:avLst>
          </a:prstGeom>
          <a:solidFill>
            <a:srgbClr val="F5F8FA"/>
          </a:solidFill>
          <a:ln w="9525">
            <a:solidFill>
              <a:srgbClr val="E3E9ED"/>
            </a:solidFill>
            <a:prstDash val="solid"/>
          </a:ln>
        </p:spPr>
      </p:sp>
      <p:pic>
        <p:nvPicPr>
          <p:cNvPr id="9" name="Image 1" descr="/home/claude/images/d68141329a6a3b5d0f7ede65fc889e0af6c7a449.png">    </p:cNvPr>
          <p:cNvPicPr>
            <a:picLocks noChangeAspect="1"/>
          </p:cNvPicPr>
          <p:nvPr/>
        </p:nvPicPr>
        <p:blipFill>
          <a:blip r:embed="rId2"/>
          <a:srcRect l="0" r="0" t="0" b="0"/>
          <a:stretch/>
        </p:blipFill>
        <p:spPr>
          <a:xfrm>
            <a:off x="4453128" y="1572768"/>
            <a:ext cx="3392424" cy="1920240"/>
          </a:xfrm>
          <a:prstGeom prst="rect">
            <a:avLst/>
          </a:prstGeom>
        </p:spPr>
      </p:pic>
      <p:sp>
        <p:nvSpPr>
          <p:cNvPr id="10" name="Text 6"/>
          <p:cNvSpPr txBox="1"/>
          <p:nvPr/>
        </p:nvSpPr>
        <p:spPr>
          <a:xfrm>
            <a:off x="4480560" y="3566160"/>
            <a:ext cx="3337560" cy="36576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Page 2 — Campaign &amp; Channel</a:t>
            </a:r>
            <a:endParaRPr lang="en-US" sz="1300" dirty="0"/>
          </a:p>
        </p:txBody>
      </p:sp>
      <p:sp>
        <p:nvSpPr>
          <p:cNvPr id="11" name="Text 7"/>
          <p:cNvSpPr txBox="1"/>
          <p:nvPr/>
        </p:nvSpPr>
        <p:spPr>
          <a:xfrm>
            <a:off x="4480560" y="3913632"/>
            <a:ext cx="3337560" cy="457200"/>
          </a:xfrm>
          <a:prstGeom prst="rect">
            <a:avLst/>
          </a:prstGeom>
          <a:noFill/>
          <a:ln/>
        </p:spPr>
        <p:txBody>
          <a:bodyPr wrap="square" lIns="0" tIns="0" rIns="0" bIns="0" rtlCol="0" anchor="ctr"/>
          <a:lstStyle/>
          <a:p>
            <a:pPr indent="0" marL="0">
              <a:lnSpc>
                <a:spcPct val="110000"/>
              </a:lnSpc>
              <a:buNone/>
            </a:pPr>
            <a:r>
              <a:rPr lang="en-US" sz="950" dirty="0">
                <a:solidFill>
                  <a:srgbClr val="5B6B79"/>
                </a:solidFill>
                <a:latin typeface="Calibri" pitchFamily="34" charset="0"/>
                <a:ea typeface="Calibri" pitchFamily="34" charset="-122"/>
                <a:cs typeface="Calibri" pitchFamily="34" charset="-120"/>
              </a:rPr>
              <a:t>Distribution by channel, Acquisition Cost vs. ROI, ROI matrix by type × channel</a:t>
            </a:r>
            <a:endParaRPr lang="en-US" sz="950" dirty="0"/>
          </a:p>
        </p:txBody>
      </p:sp>
      <p:sp>
        <p:nvSpPr>
          <p:cNvPr id="12" name="Shape 8"/>
          <p:cNvSpPr/>
          <p:nvPr/>
        </p:nvSpPr>
        <p:spPr>
          <a:xfrm>
            <a:off x="8138160" y="1463040"/>
            <a:ext cx="3611880" cy="2880360"/>
          </a:xfrm>
          <a:prstGeom prst="roundRect">
            <a:avLst>
              <a:gd name="adj" fmla="val 1905"/>
            </a:avLst>
          </a:prstGeom>
          <a:solidFill>
            <a:srgbClr val="F5F8FA"/>
          </a:solidFill>
          <a:ln w="9525">
            <a:solidFill>
              <a:srgbClr val="E3E9ED"/>
            </a:solidFill>
            <a:prstDash val="solid"/>
          </a:ln>
        </p:spPr>
      </p:sp>
      <p:pic>
        <p:nvPicPr>
          <p:cNvPr id="13" name="Image 2" descr="/home/claude/images/675dcaafe74f580ccbe9e3810fe1f019bc3c8346.png">    </p:cNvPr>
          <p:cNvPicPr>
            <a:picLocks noChangeAspect="1"/>
          </p:cNvPicPr>
          <p:nvPr/>
        </p:nvPicPr>
        <p:blipFill>
          <a:blip r:embed="rId3"/>
          <a:srcRect l="0" r="0" t="0" b="0"/>
          <a:stretch/>
        </p:blipFill>
        <p:spPr>
          <a:xfrm>
            <a:off x="8247888" y="1572768"/>
            <a:ext cx="3392424" cy="1920240"/>
          </a:xfrm>
          <a:prstGeom prst="rect">
            <a:avLst/>
          </a:prstGeom>
        </p:spPr>
      </p:pic>
      <p:sp>
        <p:nvSpPr>
          <p:cNvPr id="14" name="Text 9"/>
          <p:cNvSpPr txBox="1"/>
          <p:nvPr/>
        </p:nvSpPr>
        <p:spPr>
          <a:xfrm>
            <a:off x="8275320" y="3566160"/>
            <a:ext cx="3337560" cy="36576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Page 3 — Customer &amp; Market</a:t>
            </a:r>
            <a:endParaRPr lang="en-US" sz="1300" dirty="0"/>
          </a:p>
        </p:txBody>
      </p:sp>
      <p:sp>
        <p:nvSpPr>
          <p:cNvPr id="15" name="Text 10"/>
          <p:cNvSpPr txBox="1"/>
          <p:nvPr/>
        </p:nvSpPr>
        <p:spPr>
          <a:xfrm>
            <a:off x="8275320" y="3913632"/>
            <a:ext cx="3337560" cy="457200"/>
          </a:xfrm>
          <a:prstGeom prst="rect">
            <a:avLst/>
          </a:prstGeom>
          <a:noFill/>
          <a:ln/>
        </p:spPr>
        <p:txBody>
          <a:bodyPr wrap="square" lIns="0" tIns="0" rIns="0" bIns="0" rtlCol="0" anchor="ctr"/>
          <a:lstStyle/>
          <a:p>
            <a:pPr indent="0" marL="0">
              <a:lnSpc>
                <a:spcPct val="110000"/>
              </a:lnSpc>
              <a:buNone/>
            </a:pPr>
            <a:r>
              <a:rPr lang="en-US" sz="950" dirty="0">
                <a:solidFill>
                  <a:srgbClr val="5B6B79"/>
                </a:solidFill>
                <a:latin typeface="Calibri" pitchFamily="34" charset="0"/>
                <a:ea typeface="Calibri" pitchFamily="34" charset="-122"/>
                <a:cs typeface="Calibri" pitchFamily="34" charset="-120"/>
              </a:rPr>
              <a:t>Segment/audience/location slicers, engagement vs. conversion, ROI by audience</a:t>
            </a:r>
            <a:endParaRPr lang="en-US" sz="950" dirty="0"/>
          </a:p>
        </p:txBody>
      </p:sp>
      <p:sp>
        <p:nvSpPr>
          <p:cNvPr id="16" name="Text 11"/>
          <p:cNvSpPr txBox="1"/>
          <p:nvPr/>
        </p:nvSpPr>
        <p:spPr>
          <a:xfrm>
            <a:off x="548640" y="4709160"/>
            <a:ext cx="11064240" cy="548640"/>
          </a:xfrm>
          <a:prstGeom prst="rect">
            <a:avLst/>
          </a:prstGeom>
          <a:noFill/>
          <a:ln/>
        </p:spPr>
        <p:txBody>
          <a:bodyPr wrap="square" lIns="0" tIns="0" rIns="0" bIns="0" rtlCol="0" anchor="ctr"/>
          <a:lstStyle/>
          <a:p>
            <a:pPr indent="0" marL="0">
              <a:lnSpc>
                <a:spcPct val="125000"/>
              </a:lnSpc>
              <a:buNone/>
            </a:pPr>
            <a:r>
              <a:rPr lang="en-US" sz="1200" i="1" dirty="0">
                <a:solidFill>
                  <a:srgbClr val="5B6B79"/>
                </a:solidFill>
                <a:latin typeface="Calibri" pitchFamily="34" charset="0"/>
                <a:ea typeface="Calibri" pitchFamily="34" charset="-122"/>
                <a:cs typeface="Calibri" pitchFamily="34" charset="-120"/>
              </a:rPr>
              <a:t>Every cell in the ROI-by-Campaign-Type-and-Channel matrix (Page 2) falls between 4.96x and 5.03x — a direct, interactive confirmation that no combination stands out as meaningfully stronger or weaker.</a:t>
            </a:r>
            <a:endParaRPr lang="en-US" sz="1200" dirty="0"/>
          </a:p>
        </p:txBody>
      </p:sp>
      <p:sp>
        <p:nvSpPr>
          <p:cNvPr id="17" name="Text 12"/>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18" name="Text 1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F2A541"/>
                </a:solidFill>
                <a:latin typeface="Calibri" pitchFamily="34" charset="0"/>
                <a:ea typeface="Calibri" pitchFamily="34" charset="-122"/>
                <a:cs typeface="Calibri" pitchFamily="34" charset="-120"/>
              </a:rPr>
              <a:t>SECTION 8</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Findings</a:t>
            </a:r>
            <a:endParaRPr lang="en-US" sz="3000" dirty="0"/>
          </a:p>
        </p:txBody>
      </p:sp>
      <p:sp>
        <p:nvSpPr>
          <p:cNvPr id="4" name="Shape 2"/>
          <p:cNvSpPr/>
          <p:nvPr/>
        </p:nvSpPr>
        <p:spPr>
          <a:xfrm>
            <a:off x="640080" y="1691640"/>
            <a:ext cx="10881360" cy="777240"/>
          </a:xfrm>
          <a:prstGeom prst="roundRect">
            <a:avLst>
              <a:gd name="adj" fmla="val 7059"/>
            </a:avLst>
          </a:prstGeom>
          <a:solidFill>
            <a:srgbClr val="2C3873"/>
          </a:solidFill>
          <a:ln/>
        </p:spPr>
      </p:sp>
      <p:sp>
        <p:nvSpPr>
          <p:cNvPr id="5" name="Shape 3"/>
          <p:cNvSpPr/>
          <p:nvPr/>
        </p:nvSpPr>
        <p:spPr>
          <a:xfrm>
            <a:off x="822960" y="1828800"/>
            <a:ext cx="502920" cy="502920"/>
          </a:xfrm>
          <a:prstGeom prst="ellipse">
            <a:avLst/>
          </a:prstGeom>
          <a:solidFill>
            <a:srgbClr val="F2A541"/>
          </a:solidFill>
          <a:ln/>
        </p:spPr>
      </p:sp>
      <p:sp>
        <p:nvSpPr>
          <p:cNvPr id="6" name="Text 4"/>
          <p:cNvSpPr txBox="1"/>
          <p:nvPr/>
        </p:nvSpPr>
        <p:spPr>
          <a:xfrm>
            <a:off x="822960" y="1828800"/>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1</a:t>
            </a:r>
            <a:endParaRPr lang="en-US" sz="1540" dirty="0"/>
          </a:p>
        </p:txBody>
      </p:sp>
      <p:sp>
        <p:nvSpPr>
          <p:cNvPr id="7" name="Text 5"/>
          <p:cNvSpPr txBox="1"/>
          <p:nvPr/>
        </p:nvSpPr>
        <p:spPr>
          <a:xfrm>
            <a:off x="1554480" y="1691640"/>
            <a:ext cx="9784080" cy="777240"/>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Average ROI is ~5.00x and average conversion rate is ~0.08 across the board</a:t>
            </a:r>
            <a:endParaRPr lang="en-US" sz="1350" dirty="0"/>
          </a:p>
        </p:txBody>
      </p:sp>
      <p:sp>
        <p:nvSpPr>
          <p:cNvPr id="8" name="Shape 6"/>
          <p:cNvSpPr/>
          <p:nvPr/>
        </p:nvSpPr>
        <p:spPr>
          <a:xfrm>
            <a:off x="640080" y="2624328"/>
            <a:ext cx="10881360" cy="777240"/>
          </a:xfrm>
          <a:prstGeom prst="roundRect">
            <a:avLst>
              <a:gd name="adj" fmla="val 7059"/>
            </a:avLst>
          </a:prstGeom>
          <a:solidFill>
            <a:srgbClr val="2C3873"/>
          </a:solidFill>
          <a:ln/>
        </p:spPr>
      </p:sp>
      <p:sp>
        <p:nvSpPr>
          <p:cNvPr id="9" name="Shape 7"/>
          <p:cNvSpPr/>
          <p:nvPr/>
        </p:nvSpPr>
        <p:spPr>
          <a:xfrm>
            <a:off x="822960" y="2761488"/>
            <a:ext cx="502920" cy="502920"/>
          </a:xfrm>
          <a:prstGeom prst="ellipse">
            <a:avLst/>
          </a:prstGeom>
          <a:solidFill>
            <a:srgbClr val="F2A541"/>
          </a:solidFill>
          <a:ln/>
        </p:spPr>
      </p:sp>
      <p:sp>
        <p:nvSpPr>
          <p:cNvPr id="10" name="Text 8"/>
          <p:cNvSpPr txBox="1"/>
          <p:nvPr/>
        </p:nvSpPr>
        <p:spPr>
          <a:xfrm>
            <a:off x="822960" y="2761488"/>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2</a:t>
            </a:r>
            <a:endParaRPr lang="en-US" sz="1540" dirty="0"/>
          </a:p>
        </p:txBody>
      </p:sp>
      <p:sp>
        <p:nvSpPr>
          <p:cNvPr id="11" name="Text 9"/>
          <p:cNvSpPr txBox="1"/>
          <p:nvPr/>
        </p:nvSpPr>
        <p:spPr>
          <a:xfrm>
            <a:off x="1554480" y="2624328"/>
            <a:ext cx="9784080" cy="777240"/>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No campaign type, channel, segment, or company shows a meaningfully different level of performance</a:t>
            </a:r>
            <a:endParaRPr lang="en-US" sz="1350" dirty="0"/>
          </a:p>
        </p:txBody>
      </p:sp>
      <p:sp>
        <p:nvSpPr>
          <p:cNvPr id="12" name="Shape 10"/>
          <p:cNvSpPr/>
          <p:nvPr/>
        </p:nvSpPr>
        <p:spPr>
          <a:xfrm>
            <a:off x="640080" y="3557016"/>
            <a:ext cx="10881360" cy="777240"/>
          </a:xfrm>
          <a:prstGeom prst="roundRect">
            <a:avLst>
              <a:gd name="adj" fmla="val 7059"/>
            </a:avLst>
          </a:prstGeom>
          <a:solidFill>
            <a:srgbClr val="2C3873"/>
          </a:solidFill>
          <a:ln/>
        </p:spPr>
      </p:sp>
      <p:sp>
        <p:nvSpPr>
          <p:cNvPr id="13" name="Shape 11"/>
          <p:cNvSpPr/>
          <p:nvPr/>
        </p:nvSpPr>
        <p:spPr>
          <a:xfrm>
            <a:off x="822960" y="3694176"/>
            <a:ext cx="502920" cy="502920"/>
          </a:xfrm>
          <a:prstGeom prst="ellipse">
            <a:avLst/>
          </a:prstGeom>
          <a:solidFill>
            <a:srgbClr val="F2A541"/>
          </a:solidFill>
          <a:ln/>
        </p:spPr>
      </p:sp>
      <p:sp>
        <p:nvSpPr>
          <p:cNvPr id="14" name="Text 12"/>
          <p:cNvSpPr txBox="1"/>
          <p:nvPr/>
        </p:nvSpPr>
        <p:spPr>
          <a:xfrm>
            <a:off x="822960" y="3694176"/>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3</a:t>
            </a:r>
            <a:endParaRPr lang="en-US" sz="1540" dirty="0"/>
          </a:p>
        </p:txBody>
      </p:sp>
      <p:sp>
        <p:nvSpPr>
          <p:cNvPr id="15" name="Text 13"/>
          <p:cNvSpPr txBox="1"/>
          <p:nvPr/>
        </p:nvSpPr>
        <p:spPr>
          <a:xfrm>
            <a:off x="1554480" y="3557016"/>
            <a:ext cx="9784080" cy="777240"/>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CTR is a deterministic function of Clicks and Impressions — the one relationship that consistently holds</a:t>
            </a:r>
            <a:endParaRPr lang="en-US" sz="1350" dirty="0"/>
          </a:p>
        </p:txBody>
      </p:sp>
      <p:sp>
        <p:nvSpPr>
          <p:cNvPr id="16" name="Shape 14"/>
          <p:cNvSpPr/>
          <p:nvPr/>
        </p:nvSpPr>
        <p:spPr>
          <a:xfrm>
            <a:off x="640080" y="4489704"/>
            <a:ext cx="10881360" cy="777240"/>
          </a:xfrm>
          <a:prstGeom prst="roundRect">
            <a:avLst>
              <a:gd name="adj" fmla="val 7059"/>
            </a:avLst>
          </a:prstGeom>
          <a:solidFill>
            <a:srgbClr val="2C3873"/>
          </a:solidFill>
          <a:ln/>
        </p:spPr>
      </p:sp>
      <p:sp>
        <p:nvSpPr>
          <p:cNvPr id="17" name="Shape 15"/>
          <p:cNvSpPr/>
          <p:nvPr/>
        </p:nvSpPr>
        <p:spPr>
          <a:xfrm>
            <a:off x="822960" y="4626864"/>
            <a:ext cx="502920" cy="502920"/>
          </a:xfrm>
          <a:prstGeom prst="ellipse">
            <a:avLst/>
          </a:prstGeom>
          <a:solidFill>
            <a:srgbClr val="F2A541"/>
          </a:solidFill>
          <a:ln/>
        </p:spPr>
      </p:sp>
      <p:sp>
        <p:nvSpPr>
          <p:cNvPr id="18" name="Text 16"/>
          <p:cNvSpPr txBox="1"/>
          <p:nvPr/>
        </p:nvSpPr>
        <p:spPr>
          <a:xfrm>
            <a:off x="822960" y="4626864"/>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4</a:t>
            </a:r>
            <a:endParaRPr lang="en-US" sz="1540" dirty="0"/>
          </a:p>
        </p:txBody>
      </p:sp>
      <p:sp>
        <p:nvSpPr>
          <p:cNvPr id="19" name="Text 17"/>
          <p:cNvSpPr txBox="1"/>
          <p:nvPr/>
        </p:nvSpPr>
        <p:spPr>
          <a:xfrm>
            <a:off x="1554480" y="4489704"/>
            <a:ext cx="9784080" cy="777240"/>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Category comparisons remain useful for monitoring, just not for singling out a ‘winner’</a:t>
            </a:r>
            <a:endParaRPr lang="en-US" sz="1350" dirty="0"/>
          </a:p>
        </p:txBody>
      </p:sp>
      <p:sp>
        <p:nvSpPr>
          <p:cNvPr id="20" name="Shape 18"/>
          <p:cNvSpPr/>
          <p:nvPr/>
        </p:nvSpPr>
        <p:spPr>
          <a:xfrm>
            <a:off x="640080" y="5422392"/>
            <a:ext cx="10881360" cy="777240"/>
          </a:xfrm>
          <a:prstGeom prst="roundRect">
            <a:avLst>
              <a:gd name="adj" fmla="val 7059"/>
            </a:avLst>
          </a:prstGeom>
          <a:solidFill>
            <a:srgbClr val="2C3873"/>
          </a:solidFill>
          <a:ln/>
        </p:spPr>
      </p:sp>
      <p:sp>
        <p:nvSpPr>
          <p:cNvPr id="21" name="Shape 19"/>
          <p:cNvSpPr/>
          <p:nvPr/>
        </p:nvSpPr>
        <p:spPr>
          <a:xfrm>
            <a:off x="822960" y="5559552"/>
            <a:ext cx="502920" cy="502920"/>
          </a:xfrm>
          <a:prstGeom prst="ellipse">
            <a:avLst/>
          </a:prstGeom>
          <a:solidFill>
            <a:srgbClr val="F2A541"/>
          </a:solidFill>
          <a:ln/>
        </p:spPr>
      </p:sp>
      <p:sp>
        <p:nvSpPr>
          <p:cNvPr id="22" name="Text 20"/>
          <p:cNvSpPr txBox="1"/>
          <p:nvPr/>
        </p:nvSpPr>
        <p:spPr>
          <a:xfrm>
            <a:off x="822960" y="5559552"/>
            <a:ext cx="502920" cy="502920"/>
          </a:xfrm>
          <a:prstGeom prst="rect">
            <a:avLst/>
          </a:prstGeom>
          <a:noFill/>
          <a:ln/>
        </p:spPr>
        <p:txBody>
          <a:bodyPr wrap="square" lIns="0" tIns="0" rIns="0" bIns="0" rtlCol="0" anchor="ctr"/>
          <a:lstStyle/>
          <a:p>
            <a:pPr algn="ctr" indent="0" marL="0">
              <a:buNone/>
            </a:pPr>
            <a:r>
              <a:rPr lang="en-US" sz="1540" b="1" dirty="0">
                <a:solidFill>
                  <a:srgbClr val="FFFFFF"/>
                </a:solidFill>
                <a:latin typeface="Cambria" pitchFamily="34" charset="0"/>
                <a:ea typeface="Cambria" pitchFamily="34" charset="-122"/>
                <a:cs typeface="Cambria" pitchFamily="34" charset="-120"/>
              </a:rPr>
              <a:t>5</a:t>
            </a:r>
            <a:endParaRPr lang="en-US" sz="1540" dirty="0"/>
          </a:p>
        </p:txBody>
      </p:sp>
      <p:sp>
        <p:nvSpPr>
          <p:cNvPr id="23" name="Text 21"/>
          <p:cNvSpPr txBox="1"/>
          <p:nvPr/>
        </p:nvSpPr>
        <p:spPr>
          <a:xfrm>
            <a:off x="1554480" y="5422392"/>
            <a:ext cx="9784080" cy="777240"/>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Uniform distributions and perfectly balanced categories point to a likely synthetic dataset</a:t>
            </a:r>
            <a:endParaRPr lang="en-US" sz="1350" dirty="0"/>
          </a:p>
        </p:txBody>
      </p:sp>
      <p:sp>
        <p:nvSpPr>
          <p:cNvPr id="24" name="Text 22"/>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25" name="Text 2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 9</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Recommendations</a:t>
            </a:r>
            <a:endParaRPr lang="en-US" sz="3000" dirty="0"/>
          </a:p>
        </p:txBody>
      </p:sp>
      <p:sp>
        <p:nvSpPr>
          <p:cNvPr id="4" name="Shape 2"/>
          <p:cNvSpPr/>
          <p:nvPr/>
        </p:nvSpPr>
        <p:spPr>
          <a:xfrm>
            <a:off x="548640" y="1463040"/>
            <a:ext cx="5440680" cy="4572000"/>
          </a:xfrm>
          <a:prstGeom prst="roundRect">
            <a:avLst>
              <a:gd name="adj" fmla="val 1600"/>
            </a:avLst>
          </a:prstGeom>
          <a:solidFill>
            <a:srgbClr val="F5F8FA"/>
          </a:solidFill>
          <a:ln/>
        </p:spPr>
      </p:sp>
      <p:sp>
        <p:nvSpPr>
          <p:cNvPr id="5" name="Text 3"/>
          <p:cNvSpPr txBox="1"/>
          <p:nvPr/>
        </p:nvSpPr>
        <p:spPr>
          <a:xfrm>
            <a:off x="822960" y="1645920"/>
            <a:ext cx="484632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ANALYTICAL</a:t>
            </a:r>
            <a:endParaRPr lang="en-US" sz="1300" dirty="0"/>
          </a:p>
        </p:txBody>
      </p:sp>
      <p:sp>
        <p:nvSpPr>
          <p:cNvPr id="6" name="Shape 4"/>
          <p:cNvSpPr/>
          <p:nvPr/>
        </p:nvSpPr>
        <p:spPr>
          <a:xfrm>
            <a:off x="868680" y="2176272"/>
            <a:ext cx="109728" cy="109728"/>
          </a:xfrm>
          <a:prstGeom prst="ellipse">
            <a:avLst/>
          </a:prstGeom>
          <a:solidFill>
            <a:srgbClr val="065A82"/>
          </a:solidFill>
          <a:ln/>
        </p:spPr>
      </p:sp>
      <p:sp>
        <p:nvSpPr>
          <p:cNvPr id="7" name="Text 5"/>
          <p:cNvSpPr txBox="1"/>
          <p:nvPr/>
        </p:nvSpPr>
        <p:spPr>
          <a:xfrm>
            <a:off x="1143000" y="1993392"/>
            <a:ext cx="4709160" cy="86868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Don't base channel, type, or segment budget decisions on this dataset — no category reliably outperforms another</a:t>
            </a:r>
            <a:endParaRPr lang="en-US" sz="1200" dirty="0"/>
          </a:p>
        </p:txBody>
      </p:sp>
      <p:sp>
        <p:nvSpPr>
          <p:cNvPr id="8" name="Shape 6"/>
          <p:cNvSpPr/>
          <p:nvPr/>
        </p:nvSpPr>
        <p:spPr>
          <a:xfrm>
            <a:off x="868680" y="3182112"/>
            <a:ext cx="109728" cy="109728"/>
          </a:xfrm>
          <a:prstGeom prst="ellipse">
            <a:avLst/>
          </a:prstGeom>
          <a:solidFill>
            <a:srgbClr val="065A82"/>
          </a:solidFill>
          <a:ln/>
        </p:spPr>
      </p:sp>
      <p:sp>
        <p:nvSpPr>
          <p:cNvPr id="9" name="Text 7"/>
          <p:cNvSpPr txBox="1"/>
          <p:nvPr/>
        </p:nvSpPr>
        <p:spPr>
          <a:xfrm>
            <a:off x="1143000" y="2999232"/>
            <a:ext cx="4709160" cy="86868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Prioritize collecting variables plausibly linked to outcomes: creative quality, bid strategy, fine-grained seasonality, competitor activity</a:t>
            </a:r>
            <a:endParaRPr lang="en-US" sz="1200" dirty="0"/>
          </a:p>
        </p:txBody>
      </p:sp>
      <p:sp>
        <p:nvSpPr>
          <p:cNvPr id="10" name="Shape 8"/>
          <p:cNvSpPr/>
          <p:nvPr/>
        </p:nvSpPr>
        <p:spPr>
          <a:xfrm>
            <a:off x="868680" y="4187952"/>
            <a:ext cx="109728" cy="109728"/>
          </a:xfrm>
          <a:prstGeom prst="ellipse">
            <a:avLst/>
          </a:prstGeom>
          <a:solidFill>
            <a:srgbClr val="065A82"/>
          </a:solidFill>
          <a:ln/>
        </p:spPr>
      </p:sp>
      <p:sp>
        <p:nvSpPr>
          <p:cNvPr id="11" name="Text 9"/>
          <p:cNvSpPr txBox="1"/>
          <p:nvPr/>
        </p:nvSpPr>
        <p:spPr>
          <a:xfrm>
            <a:off x="1143000" y="4005072"/>
            <a:ext cx="4709160" cy="86868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Evaluate CTR, Clicks, and Impressions together — the only variables meaningfully related here</a:t>
            </a:r>
            <a:endParaRPr lang="en-US" sz="1200" dirty="0"/>
          </a:p>
        </p:txBody>
      </p:sp>
      <p:sp>
        <p:nvSpPr>
          <p:cNvPr id="12" name="Shape 10"/>
          <p:cNvSpPr/>
          <p:nvPr/>
        </p:nvSpPr>
        <p:spPr>
          <a:xfrm>
            <a:off x="868680" y="5193792"/>
            <a:ext cx="109728" cy="109728"/>
          </a:xfrm>
          <a:prstGeom prst="ellipse">
            <a:avLst/>
          </a:prstGeom>
          <a:solidFill>
            <a:srgbClr val="065A82"/>
          </a:solidFill>
          <a:ln/>
        </p:spPr>
      </p:sp>
      <p:sp>
        <p:nvSpPr>
          <p:cNvPr id="13" name="Text 11"/>
          <p:cNvSpPr txBox="1"/>
          <p:nvPr/>
        </p:nvSpPr>
        <p:spPr>
          <a:xfrm>
            <a:off x="1143000" y="5010912"/>
            <a:ext cx="4709160" cy="86868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Validate the data source with its owner before drawing business conclusions</a:t>
            </a:r>
            <a:endParaRPr lang="en-US" sz="1200" dirty="0"/>
          </a:p>
        </p:txBody>
      </p:sp>
      <p:sp>
        <p:nvSpPr>
          <p:cNvPr id="14" name="Shape 12"/>
          <p:cNvSpPr/>
          <p:nvPr/>
        </p:nvSpPr>
        <p:spPr>
          <a:xfrm>
            <a:off x="6172200" y="1463040"/>
            <a:ext cx="5440680" cy="4572000"/>
          </a:xfrm>
          <a:prstGeom prst="roundRect">
            <a:avLst>
              <a:gd name="adj" fmla="val 1600"/>
            </a:avLst>
          </a:prstGeom>
          <a:solidFill>
            <a:srgbClr val="21295C"/>
          </a:solidFill>
          <a:ln/>
        </p:spPr>
      </p:sp>
      <p:sp>
        <p:nvSpPr>
          <p:cNvPr id="15" name="Text 13"/>
          <p:cNvSpPr txBox="1"/>
          <p:nvPr/>
        </p:nvSpPr>
        <p:spPr>
          <a:xfrm>
            <a:off x="6446520" y="1645920"/>
            <a:ext cx="4846320" cy="320040"/>
          </a:xfrm>
          <a:prstGeom prst="rect">
            <a:avLst/>
          </a:prstGeom>
          <a:noFill/>
          <a:ln/>
        </p:spPr>
        <p:txBody>
          <a:bodyPr wrap="square" lIns="0" tIns="0" rIns="0" bIns="0" rtlCol="0" anchor="ctr"/>
          <a:lstStyle/>
          <a:p>
            <a:pPr indent="0" marL="0">
              <a:buNone/>
            </a:pPr>
            <a:r>
              <a:rPr lang="en-US" sz="1300" b="1" dirty="0">
                <a:solidFill>
                  <a:srgbClr val="F2A541"/>
                </a:solidFill>
                <a:latin typeface="Calibri" pitchFamily="34" charset="0"/>
                <a:ea typeface="Calibri" pitchFamily="34" charset="-122"/>
                <a:cs typeface="Calibri" pitchFamily="34" charset="-120"/>
              </a:rPr>
              <a:t>DASHBOARD &amp; PROCESS</a:t>
            </a:r>
            <a:endParaRPr lang="en-US" sz="1300" dirty="0"/>
          </a:p>
        </p:txBody>
      </p:sp>
      <p:sp>
        <p:nvSpPr>
          <p:cNvPr id="16" name="Shape 14"/>
          <p:cNvSpPr/>
          <p:nvPr/>
        </p:nvSpPr>
        <p:spPr>
          <a:xfrm>
            <a:off x="6492240" y="2176272"/>
            <a:ext cx="109728" cy="109728"/>
          </a:xfrm>
          <a:prstGeom prst="ellipse">
            <a:avLst/>
          </a:prstGeom>
          <a:solidFill>
            <a:srgbClr val="F2A541"/>
          </a:solidFill>
          <a:ln/>
        </p:spPr>
      </p:sp>
      <p:sp>
        <p:nvSpPr>
          <p:cNvPr id="17" name="Text 15"/>
          <p:cNvSpPr txBox="1"/>
          <p:nvPr/>
        </p:nvSpPr>
        <p:spPr>
          <a:xfrm>
            <a:off x="6766560" y="1993392"/>
            <a:ext cx="4709160" cy="128016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Add a spread indicator (highest vs. lowest group average) to the dashboard's category visuals, so small differences aren't mistaken for real gaps</a:t>
            </a:r>
            <a:endParaRPr lang="en-US" sz="1200" dirty="0"/>
          </a:p>
        </p:txBody>
      </p:sp>
      <p:sp>
        <p:nvSpPr>
          <p:cNvPr id="18" name="Shape 16"/>
          <p:cNvSpPr/>
          <p:nvPr/>
        </p:nvSpPr>
        <p:spPr>
          <a:xfrm>
            <a:off x="6492240" y="3776472"/>
            <a:ext cx="109728" cy="109728"/>
          </a:xfrm>
          <a:prstGeom prst="ellipse">
            <a:avLst/>
          </a:prstGeom>
          <a:solidFill>
            <a:srgbClr val="F2A541"/>
          </a:solidFill>
          <a:ln/>
        </p:spPr>
      </p:sp>
      <p:sp>
        <p:nvSpPr>
          <p:cNvPr id="19" name="Text 17"/>
          <p:cNvSpPr txBox="1"/>
          <p:nvPr/>
        </p:nvSpPr>
        <p:spPr>
          <a:xfrm>
            <a:off x="6766560" y="3593592"/>
            <a:ext cx="4709160" cy="128016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If live campaign data becomes available, re-run the same KPI comparisons periodically — this pipeline (Python → KPI comparison → Power BI) is reusable for monthly or quarterly reporting</a:t>
            </a:r>
            <a:endParaRPr lang="en-US" sz="1200" dirty="0"/>
          </a:p>
        </p:txBody>
      </p:sp>
      <p:sp>
        <p:nvSpPr>
          <p:cNvPr id="20" name="Text 18"/>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21" name="Text 19"/>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SECTIONS 10 – 11</a:t>
            </a:r>
            <a:endParaRPr lang="en-US" sz="1200" dirty="0"/>
          </a:p>
        </p:txBody>
      </p:sp>
      <p:sp>
        <p:nvSpPr>
          <p:cNvPr id="3" name="Text 1"/>
          <p:cNvSpPr txBox="1"/>
          <p:nvPr/>
        </p:nvSpPr>
        <p:spPr>
          <a:xfrm>
            <a:off x="548640" y="621792"/>
            <a:ext cx="1078992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Limitations &amp; Conclusion</a:t>
            </a:r>
            <a:endParaRPr lang="en-US" sz="3000" dirty="0"/>
          </a:p>
        </p:txBody>
      </p:sp>
      <p:sp>
        <p:nvSpPr>
          <p:cNvPr id="4" name="Text 2"/>
          <p:cNvSpPr txBox="1"/>
          <p:nvPr/>
        </p:nvSpPr>
        <p:spPr>
          <a:xfrm>
            <a:off x="548640" y="1463040"/>
            <a:ext cx="54864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LIMITATIONS</a:t>
            </a:r>
            <a:endParaRPr lang="en-US" sz="1300" dirty="0"/>
          </a:p>
        </p:txBody>
      </p:sp>
      <p:sp>
        <p:nvSpPr>
          <p:cNvPr id="5" name="Shape 3"/>
          <p:cNvSpPr/>
          <p:nvPr/>
        </p:nvSpPr>
        <p:spPr>
          <a:xfrm>
            <a:off x="594360" y="1947672"/>
            <a:ext cx="109728" cy="109728"/>
          </a:xfrm>
          <a:prstGeom prst="ellipse">
            <a:avLst/>
          </a:prstGeom>
          <a:solidFill>
            <a:srgbClr val="065A82"/>
          </a:solidFill>
          <a:ln/>
        </p:spPr>
      </p:sp>
      <p:sp>
        <p:nvSpPr>
          <p:cNvPr id="6" name="Text 4"/>
          <p:cNvSpPr txBox="1"/>
          <p:nvPr/>
        </p:nvSpPr>
        <p:spPr>
          <a:xfrm>
            <a:off x="868680" y="1783080"/>
            <a:ext cx="5486400" cy="59436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Uniform distributions &amp; balanced categories suggest an artificially generated dataset</a:t>
            </a:r>
            <a:endParaRPr lang="en-US" sz="1200" dirty="0"/>
          </a:p>
        </p:txBody>
      </p:sp>
      <p:sp>
        <p:nvSpPr>
          <p:cNvPr id="7" name="Shape 5"/>
          <p:cNvSpPr/>
          <p:nvPr/>
        </p:nvSpPr>
        <p:spPr>
          <a:xfrm>
            <a:off x="594360" y="2724912"/>
            <a:ext cx="109728" cy="109728"/>
          </a:xfrm>
          <a:prstGeom prst="ellipse">
            <a:avLst/>
          </a:prstGeom>
          <a:solidFill>
            <a:srgbClr val="065A82"/>
          </a:solidFill>
          <a:ln/>
        </p:spPr>
      </p:sp>
      <p:sp>
        <p:nvSpPr>
          <p:cNvPr id="8" name="Text 6"/>
          <p:cNvSpPr txBox="1"/>
          <p:nvPr/>
        </p:nvSpPr>
        <p:spPr>
          <a:xfrm>
            <a:off x="868680" y="2560320"/>
            <a:ext cx="5486400" cy="59436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No data on spend by channel, creative content, competitors, or macro conditions</a:t>
            </a:r>
            <a:endParaRPr lang="en-US" sz="1200" dirty="0"/>
          </a:p>
        </p:txBody>
      </p:sp>
      <p:sp>
        <p:nvSpPr>
          <p:cNvPr id="9" name="Shape 7"/>
          <p:cNvSpPr/>
          <p:nvPr/>
        </p:nvSpPr>
        <p:spPr>
          <a:xfrm>
            <a:off x="594360" y="3502152"/>
            <a:ext cx="109728" cy="109728"/>
          </a:xfrm>
          <a:prstGeom prst="ellipse">
            <a:avLst/>
          </a:prstGeom>
          <a:solidFill>
            <a:srgbClr val="065A82"/>
          </a:solidFill>
          <a:ln/>
        </p:spPr>
      </p:sp>
      <p:sp>
        <p:nvSpPr>
          <p:cNvPr id="10" name="Text 8"/>
          <p:cNvSpPr txBox="1"/>
          <p:nvPr/>
        </p:nvSpPr>
        <p:spPr>
          <a:xfrm>
            <a:off x="868680" y="3337560"/>
            <a:ext cx="5486400" cy="59436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Engagement Score is a pre-computed integer with no documented calculation</a:t>
            </a:r>
            <a:endParaRPr lang="en-US" sz="1200" dirty="0"/>
          </a:p>
        </p:txBody>
      </p:sp>
      <p:sp>
        <p:nvSpPr>
          <p:cNvPr id="11" name="Shape 9"/>
          <p:cNvSpPr/>
          <p:nvPr/>
        </p:nvSpPr>
        <p:spPr>
          <a:xfrm>
            <a:off x="594360" y="4279392"/>
            <a:ext cx="109728" cy="109728"/>
          </a:xfrm>
          <a:prstGeom prst="ellipse">
            <a:avLst/>
          </a:prstGeom>
          <a:solidFill>
            <a:srgbClr val="065A82"/>
          </a:solidFill>
          <a:ln/>
        </p:spPr>
      </p:sp>
      <p:sp>
        <p:nvSpPr>
          <p:cNvPr id="12" name="Text 10"/>
          <p:cNvSpPr txBox="1"/>
          <p:nvPr/>
        </p:nvSpPr>
        <p:spPr>
          <a:xfrm>
            <a:off x="868680" y="4114800"/>
            <a:ext cx="5486400" cy="594360"/>
          </a:xfrm>
          <a:prstGeom prst="rect">
            <a:avLst/>
          </a:prstGeom>
          <a:noFill/>
          <a:ln/>
        </p:spPr>
        <p:txBody>
          <a:bodyPr wrap="square" lIns="0" tIns="0" rIns="0" bIns="0" rtlCol="0" anchor="ctr"/>
          <a:lstStyle/>
          <a:p>
            <a:pPr indent="0" marL="0">
              <a:lnSpc>
                <a:spcPct val="120000"/>
              </a:lnSpc>
              <a:buNone/>
            </a:pPr>
            <a:r>
              <a:rPr lang="en-US" sz="1200" dirty="0">
                <a:solidFill>
                  <a:srgbClr val="21295C"/>
                </a:solidFill>
                <a:latin typeface="Calibri" pitchFamily="34" charset="0"/>
                <a:ea typeface="Calibri" pitchFamily="34" charset="-122"/>
                <a:cs typeface="Calibri" pitchFamily="34" charset="-120"/>
              </a:rPr>
              <a:t>Cross-sectional design — no causal claims can be made</a:t>
            </a:r>
            <a:endParaRPr lang="en-US" sz="1200" dirty="0"/>
          </a:p>
        </p:txBody>
      </p:sp>
      <p:sp>
        <p:nvSpPr>
          <p:cNvPr id="13" name="Shape 11"/>
          <p:cNvSpPr/>
          <p:nvPr/>
        </p:nvSpPr>
        <p:spPr>
          <a:xfrm>
            <a:off x="6766560" y="1463040"/>
            <a:ext cx="4846320" cy="4709160"/>
          </a:xfrm>
          <a:prstGeom prst="roundRect">
            <a:avLst>
              <a:gd name="adj" fmla="val 1553"/>
            </a:avLst>
          </a:prstGeom>
          <a:solidFill>
            <a:srgbClr val="F5F8FA"/>
          </a:solidFill>
          <a:ln/>
        </p:spPr>
      </p:sp>
      <p:sp>
        <p:nvSpPr>
          <p:cNvPr id="14" name="Text 12"/>
          <p:cNvSpPr txBox="1"/>
          <p:nvPr/>
        </p:nvSpPr>
        <p:spPr>
          <a:xfrm>
            <a:off x="7040880" y="1645920"/>
            <a:ext cx="429768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CONCLUSION</a:t>
            </a:r>
            <a:endParaRPr lang="en-US" sz="1300" dirty="0"/>
          </a:p>
        </p:txBody>
      </p:sp>
      <p:sp>
        <p:nvSpPr>
          <p:cNvPr id="15" name="Text 13"/>
          <p:cNvSpPr txBox="1"/>
          <p:nvPr/>
        </p:nvSpPr>
        <p:spPr>
          <a:xfrm>
            <a:off x="7040880" y="2057400"/>
            <a:ext cx="4297680" cy="3977640"/>
          </a:xfrm>
          <a:prstGeom prst="rect">
            <a:avLst/>
          </a:prstGeom>
          <a:noFill/>
          <a:ln/>
        </p:spPr>
        <p:txBody>
          <a:bodyPr wrap="square" lIns="0" tIns="0" rIns="0" bIns="0" rtlCol="0" anchor="ctr"/>
          <a:lstStyle/>
          <a:p>
            <a:pPr indent="0" marL="0">
              <a:lnSpc>
                <a:spcPct val="130000"/>
              </a:lnSpc>
              <a:buNone/>
            </a:pPr>
            <a:r>
              <a:rPr lang="en-US" sz="1200" dirty="0">
                <a:solidFill>
                  <a:srgbClr val="21295C"/>
                </a:solidFill>
                <a:latin typeface="Calibri" pitchFamily="34" charset="0"/>
                <a:ea typeface="Calibri" pitchFamily="34" charset="-122"/>
                <a:cs typeface="Calibri" pitchFamily="34" charset="-120"/>
              </a:rPr>
              <a:t>This project delivered a complete analytics workflow on 200,000 campaign records: Python cleaning, exploratory &amp; KPI-comparison analysis, and an interactive Power BI dashboard.</a:t>
            </a:r>
            <a:endParaRPr lang="en-US" sz="1200" dirty="0"/>
          </a:p>
          <a:p>
            <a:pPr indent="0" marL="0">
              <a:lnSpc>
                <a:spcPct val="130000"/>
              </a:lnSpc>
              <a:buNone/>
            </a:pPr>
            <a:endParaRPr lang="en-US" sz="1200" dirty="0"/>
          </a:p>
          <a:p>
            <a:pPr indent="0" marL="0">
              <a:lnSpc>
                <a:spcPct val="130000"/>
              </a:lnSpc>
              <a:buNone/>
            </a:pPr>
            <a:r>
              <a:rPr lang="en-US" sz="1200" dirty="0">
                <a:solidFill>
                  <a:srgbClr val="21295C"/>
                </a:solidFill>
                <a:latin typeface="Calibri" pitchFamily="34" charset="0"/>
                <a:ea typeface="Calibri" pitchFamily="34" charset="-122"/>
                <a:cs typeface="Calibri" pitchFamily="34" charset="-120"/>
              </a:rPr>
              <a:t>Rather than finding that one channel, type, or segment drives superior ROI, the comparisons show none of the categorical attributes are associated with a meaningfully different level of performance. The relationship that does hold is the mechanical link between Clicks, Impressions, and CTR.</a:t>
            </a:r>
            <a:endParaRPr lang="en-US" sz="1200" dirty="0"/>
          </a:p>
          <a:p>
            <a:pPr indent="0" marL="0">
              <a:lnSpc>
                <a:spcPct val="130000"/>
              </a:lnSpc>
              <a:buNone/>
            </a:pPr>
            <a:endParaRPr lang="en-US" sz="1200" dirty="0"/>
          </a:p>
          <a:p>
            <a:pPr indent="0" marL="0">
              <a:lnSpc>
                <a:spcPct val="130000"/>
              </a:lnSpc>
              <a:buNone/>
            </a:pPr>
            <a:r>
              <a:rPr lang="en-US" sz="1200" dirty="0">
                <a:solidFill>
                  <a:srgbClr val="21295C"/>
                </a:solidFill>
                <a:latin typeface="Calibri" pitchFamily="34" charset="0"/>
                <a:ea typeface="Calibri" pitchFamily="34" charset="-122"/>
                <a:cs typeface="Calibri" pitchFamily="34" charset="-120"/>
              </a:rPr>
              <a:t>The result underscores a core analytics skill: differences that look meaningful in a bar chart don't always survive a closer look at the numbers.</a:t>
            </a:r>
            <a:endParaRPr lang="en-US" sz="1200" dirty="0"/>
          </a:p>
        </p:txBody>
      </p:sp>
      <p:sp>
        <p:nvSpPr>
          <p:cNvPr id="16" name="Text 14"/>
          <p:cNvSpPr txBox="1"/>
          <p:nvPr/>
        </p:nvSpPr>
        <p:spPr>
          <a:xfrm>
            <a:off x="457200" y="6537960"/>
            <a:ext cx="7315200" cy="274320"/>
          </a:xfrm>
          <a:prstGeom prst="rect">
            <a:avLst/>
          </a:prstGeom>
          <a:noFill/>
          <a:ln/>
        </p:spPr>
        <p:txBody>
          <a:bodyPr wrap="square" lIns="0" tIns="0" rIns="0" bIns="0"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Marketing Campaign Performance Analytics</a:t>
            </a:r>
            <a:endParaRPr lang="en-US" sz="900" dirty="0"/>
          </a:p>
        </p:txBody>
      </p:sp>
      <p:sp>
        <p:nvSpPr>
          <p:cNvPr id="17" name="Text 1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966960" y="-1463040"/>
            <a:ext cx="4754880" cy="4754880"/>
          </a:xfrm>
          <a:prstGeom prst="ellipse">
            <a:avLst/>
          </a:prstGeom>
          <a:solidFill>
            <a:srgbClr val="065A82">
              <a:alpha val="45000"/>
            </a:srgbClr>
          </a:solidFill>
          <a:ln/>
        </p:spPr>
      </p:sp>
      <p:sp>
        <p:nvSpPr>
          <p:cNvPr id="3" name="Shape 1"/>
          <p:cNvSpPr/>
          <p:nvPr/>
        </p:nvSpPr>
        <p:spPr>
          <a:xfrm>
            <a:off x="-1097280" y="5120640"/>
            <a:ext cx="3291840" cy="3291840"/>
          </a:xfrm>
          <a:prstGeom prst="ellipse">
            <a:avLst/>
          </a:prstGeom>
          <a:solidFill>
            <a:srgbClr val="1C7293">
              <a:alpha val="45000"/>
            </a:srgbClr>
          </a:solidFill>
          <a:ln/>
        </p:spPr>
      </p:sp>
      <p:sp>
        <p:nvSpPr>
          <p:cNvPr id="4" name="Text 2"/>
          <p:cNvSpPr txBox="1"/>
          <p:nvPr/>
        </p:nvSpPr>
        <p:spPr>
          <a:xfrm>
            <a:off x="822960" y="2468880"/>
            <a:ext cx="914400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822960" y="3383280"/>
            <a:ext cx="9144000" cy="548640"/>
          </a:xfrm>
          <a:prstGeom prst="rect">
            <a:avLst/>
          </a:prstGeom>
          <a:noFill/>
          <a:ln/>
        </p:spPr>
        <p:txBody>
          <a:bodyPr wrap="square" lIns="0" tIns="0" rIns="0" bIns="0" rtlCol="0" anchor="ctr"/>
          <a:lstStyle/>
          <a:p>
            <a:pPr indent="0" marL="0">
              <a:buNone/>
            </a:pPr>
            <a:r>
              <a:rPr lang="en-US" sz="1800" i="1" dirty="0">
                <a:solidFill>
                  <a:srgbClr val="F2A541"/>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822960" y="4114800"/>
            <a:ext cx="2743200" cy="0"/>
          </a:xfrm>
          <a:prstGeom prst="line">
            <a:avLst/>
          </a:prstGeom>
          <a:noFill/>
          <a:ln w="19050">
            <a:solidFill>
              <a:srgbClr val="1C7293"/>
            </a:solidFill>
            <a:prstDash val="solid"/>
          </a:ln>
        </p:spPr>
      </p:sp>
      <p:sp>
        <p:nvSpPr>
          <p:cNvPr id="7" name="Text 5"/>
          <p:cNvSpPr txBox="1"/>
          <p:nvPr/>
        </p:nvSpPr>
        <p:spPr>
          <a:xfrm>
            <a:off x="822960" y="4297680"/>
            <a:ext cx="7315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Sai Varshini R  |  Data Analytics Internship Project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2026-09-14T06:00:44Z</dcterms:created>
  <dcterms:modified xsi:type="dcterms:W3CDTF">2026-09-14T06:00:44Z</dcterms:modified>
</cp:coreProperties>
</file>